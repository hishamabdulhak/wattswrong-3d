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slides/slide6.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85413114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1503860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71405235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313865079"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4649260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68356365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8612975" name="Slide Image Placeholder 1"/>
          <p:cNvSpPr>
            <a:spLocks noChangeAspect="1" noGrp="1" noRot="1"/>
          </p:cNvSpPr>
          <p:nvPr>
            <p:ph type="sldImg"/>
          </p:nvPr>
        </p:nvSpPr>
        <p:spPr bwMode="auto"/>
      </p:sp>
      <p:sp>
        <p:nvSpPr>
          <p:cNvPr id="1284093102" name="Notes Placeholder 2"/>
          <p:cNvSpPr>
            <a:spLocks noGrp="1"/>
          </p:cNvSpPr>
          <p:nvPr>
            <p:ph type="body" idx="1"/>
          </p:nvPr>
        </p:nvSpPr>
        <p:spPr bwMode="auto"/>
        <p:txBody>
          <a:bodyPr/>
          <a:lstStyle/>
          <a:p>
            <a:pPr>
              <a:defRPr/>
            </a:pPr>
            <a:r>
              <a:rPr lang="en-US"/>
              <a:t>Open on the street and say nothing for a beat. This is the app: four real UK homes from the REFIT dataset, replayed in 3D. The strip along the bottom of every slide is the app's own timeline, with every finding in the four homes drawn on it. The white line shows which moment of the replay the slide is about. This one is 24 Oct 2014, 05:00.</a:t>
            </a:r>
            <a:endParaRPr lang="en-US"/>
          </a:p>
        </p:txBody>
      </p:sp>
      <p:sp>
        <p:nvSpPr>
          <p:cNvPr id="503517133"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3091926" name="Slide Image Placeholder 1"/>
          <p:cNvSpPr>
            <a:spLocks noChangeAspect="1" noGrp="1" noRot="1"/>
          </p:cNvSpPr>
          <p:nvPr>
            <p:ph type="sldImg"/>
          </p:nvPr>
        </p:nvSpPr>
        <p:spPr bwMode="auto"/>
      </p:sp>
      <p:sp>
        <p:nvSpPr>
          <p:cNvPr id="799523043" name="Notes Placeholder 2"/>
          <p:cNvSpPr>
            <a:spLocks noGrp="1"/>
          </p:cNvSpPr>
          <p:nvPr>
            <p:ph type="body" idx="1"/>
          </p:nvPr>
        </p:nvSpPr>
        <p:spPr bwMode="auto"/>
        <p:txBody>
          <a:bodyPr/>
          <a:lstStyle/>
          <a:p>
            <a:pPr>
              <a:defRPr/>
            </a:pPr>
            <a:r>
              <a:rPr lang="en-US"/>
              <a:t>The problem in one line. A monthly bill is a single number. It cannot tell you that something ran when it should not have. The next two slides show a real example from Home A. The playhead is back at the start of the replay, 25 Aug 2014.</a:t>
            </a:r>
            <a:endParaRPr lang="en-US"/>
          </a:p>
        </p:txBody>
      </p:sp>
      <p:sp>
        <p:nvSpPr>
          <p:cNvPr id="126616157"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8596781" name="Slide Image Placeholder 1"/>
          <p:cNvSpPr>
            <a:spLocks noChangeAspect="1" noGrp="1" noRot="1"/>
          </p:cNvSpPr>
          <p:nvPr>
            <p:ph type="sldImg"/>
          </p:nvPr>
        </p:nvSpPr>
        <p:spPr bwMode="auto"/>
      </p:sp>
      <p:sp>
        <p:nvSpPr>
          <p:cNvPr id="1718274406" name="Notes Placeholder 2"/>
          <p:cNvSpPr>
            <a:spLocks noGrp="1"/>
          </p:cNvSpPr>
          <p:nvPr>
            <p:ph type="body" idx="1"/>
          </p:nvPr>
        </p:nvSpPr>
        <p:spPr bwMode="auto"/>
        <p:txBody>
          <a:bodyPr/>
          <a:lstStyle/>
          <a:p>
            <a:pPr>
              <a:defRPr/>
            </a:pPr>
            <a:r>
              <a:rPr lang="en-US"/>
              <a:t>Four homes, Homes A to D, are REFIT Houses 1, 3, 10 and 18: real UK households measured between 2014 and 2015. The rooms are made up, because REFIT has no floor plans, but the readings are real. The street shows a badge for each home, and the badge changes as you scrub or play the replay. Totals in the data: 16 meters, 81,046 hourly readings, 179 findings. Everything here is a historical replay, not a live feed.</a:t>
            </a:r>
            <a:endParaRPr lang="en-US"/>
          </a:p>
        </p:txBody>
      </p:sp>
      <p:sp>
        <p:nvSpPr>
          <p:cNvPr id="2112210811"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9146760" name="Slide Image Placeholder 1"/>
          <p:cNvSpPr>
            <a:spLocks noChangeAspect="1" noGrp="1" noRot="1"/>
          </p:cNvSpPr>
          <p:nvPr>
            <p:ph type="sldImg"/>
          </p:nvPr>
        </p:nvSpPr>
        <p:spPr bwMode="auto"/>
      </p:sp>
      <p:sp>
        <p:nvSpPr>
          <p:cNvPr id="868074034" name="Notes Placeholder 2"/>
          <p:cNvSpPr>
            <a:spLocks noGrp="1"/>
          </p:cNvSpPr>
          <p:nvPr>
            <p:ph type="body" idx="1"/>
          </p:nvPr>
        </p:nvSpPr>
        <p:spPr bwMode="auto"/>
        <p:txBody>
          <a:bodyPr/>
          <a:lstStyle/>
          <a:p>
            <a:pPr>
              <a:defRPr/>
            </a:pPr>
            <a:r>
              <a:rPr lang="en-US"/>
              <a:t>Click a home once to see its card, and click it again to go inside. Click a meter to open its card. This one is Home A's electric heater on Wed 26 Nov 2014: running for 34 hours, detection strength high. The advice is plain: check the heater's timer and thermostat, and switch it off when the room is empty. This screenshot is from an earlier look of the app; the content is the same.</a:t>
            </a:r>
            <a:endParaRPr lang="en-US"/>
          </a:p>
        </p:txBody>
      </p:sp>
      <p:sp>
        <p:nvSpPr>
          <p:cNvPr id="1355160362"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3969613" name="Slide Image Placeholder 1"/>
          <p:cNvSpPr>
            <a:spLocks noChangeAspect="1" noGrp="1" noRot="1"/>
          </p:cNvSpPr>
          <p:nvPr>
            <p:ph type="sldImg"/>
          </p:nvPr>
        </p:nvSpPr>
        <p:spPr bwMode="auto"/>
      </p:sp>
      <p:sp>
        <p:nvSpPr>
          <p:cNvPr id="1547643352" name="Notes Placeholder 2"/>
          <p:cNvSpPr>
            <a:spLocks noGrp="1"/>
          </p:cNvSpPr>
          <p:nvPr>
            <p:ph type="body" idx="1"/>
          </p:nvPr>
        </p:nvSpPr>
        <p:spPr bwMode="auto"/>
        <p:txBody>
          <a:bodyPr/>
          <a:lstStyle/>
          <a:p>
            <a:pPr>
              <a:defRPr/>
            </a:pPr>
            <a:r>
              <a:rPr lang="en-US"/>
              <a:t>Home A's electric heater, 24 to 28 Nov 2014. The finding starts at 01:00 on Tue 25 Nov and runs until 07:00 on Thu 27 Nov, 2.2 days. The heater drew 5.80 kWh more than its day-ahead forecast, which is near zero. It was flagged at 07:00 on the 25th, six hours in. The finding is a usage pattern worth checking, not a confirmed fault: possible causes are that it was left on longer than usual, or that the timer or thermostat setting changed.</a:t>
            </a:r>
            <a:endParaRPr lang="en-US"/>
          </a:p>
        </p:txBody>
      </p:sp>
      <p:sp>
        <p:nvSpPr>
          <p:cNvPr id="241204046"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3662646" name="Slide Image Placeholder 1"/>
          <p:cNvSpPr>
            <a:spLocks noChangeAspect="1" noGrp="1" noRot="1"/>
          </p:cNvSpPr>
          <p:nvPr>
            <p:ph type="sldImg"/>
          </p:nvPr>
        </p:nvSpPr>
        <p:spPr bwMode="auto"/>
      </p:sp>
      <p:sp>
        <p:nvSpPr>
          <p:cNvPr id="177478350" name="Notes Placeholder 2"/>
          <p:cNvSpPr>
            <a:spLocks noGrp="1"/>
          </p:cNvSpPr>
          <p:nvPr>
            <p:ph type="body" idx="1"/>
          </p:nvPr>
        </p:nvSpPr>
        <p:spPr bwMode="auto"/>
        <p:txBody>
          <a:bodyPr/>
          <a:lstStyle/>
          <a:p>
            <a:pPr>
              <a:defRPr/>
            </a:pPr>
            <a:r>
              <a:rPr lang="en-US"/>
              <a:t>This is the finding called "Usage creeping up day by day". Home A's whole-house meter, 5 Jan to 5 Mar 2015, 60 days. Each bar is the extra use above the day-ahead forecast in one block of about a week: about 40 kWh in the first block and about 103 kWh in the last. Total extra use is 473 kWh. A slow climb like this is the thing a monthly bill hides.</a:t>
            </a:r>
            <a:endParaRPr lang="en-US"/>
          </a:p>
        </p:txBody>
      </p:sp>
      <p:sp>
        <p:nvSpPr>
          <p:cNvPr id="1522948181"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8960938" name="Slide Image Placeholder 1"/>
          <p:cNvSpPr>
            <a:spLocks noChangeAspect="1" noGrp="1" noRot="1"/>
          </p:cNvSpPr>
          <p:nvPr>
            <p:ph type="sldImg"/>
          </p:nvPr>
        </p:nvSpPr>
        <p:spPr bwMode="auto"/>
      </p:sp>
      <p:sp>
        <p:nvSpPr>
          <p:cNvPr id="659369247" name="Notes Placeholder 2"/>
          <p:cNvSpPr>
            <a:spLocks noGrp="1"/>
          </p:cNvSpPr>
          <p:nvPr>
            <p:ph type="body" idx="1"/>
          </p:nvPr>
        </p:nvSpPr>
        <p:spPr bwMode="auto"/>
        <p:txBody>
          <a:bodyPr/>
          <a:lstStyle/>
          <a:p>
            <a:pPr>
              <a:defRPr/>
            </a:pPr>
            <a:r>
              <a:rPr lang="en-US"/>
              <a:t>The Replay recap button in the header plays the whole nine months as three short cards: the overview, what was spotted, and an invitation to open each home. Note: the app's recap card states a finding count itself; the data export holds 179 findings in total, so quote the app's own number only if you check it first.</a:t>
            </a:r>
            <a:endParaRPr lang="en-US"/>
          </a:p>
        </p:txBody>
      </p:sp>
      <p:sp>
        <p:nvSpPr>
          <p:cNvPr id="81699499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3762770" name="Slide Image Placeholder 1"/>
          <p:cNvSpPr>
            <a:spLocks noChangeAspect="1" noGrp="1" noRot="1"/>
          </p:cNvSpPr>
          <p:nvPr>
            <p:ph type="sldImg"/>
          </p:nvPr>
        </p:nvSpPr>
        <p:spPr bwMode="auto"/>
      </p:sp>
      <p:sp>
        <p:nvSpPr>
          <p:cNvPr id="1402673915" name="Notes Placeholder 2"/>
          <p:cNvSpPr>
            <a:spLocks noGrp="1"/>
          </p:cNvSpPr>
          <p:nvPr>
            <p:ph type="body" idx="1"/>
          </p:nvPr>
        </p:nvSpPr>
        <p:spPr bwMode="auto"/>
        <p:txBody>
          <a:bodyPr/>
          <a:lstStyle/>
          <a:p>
            <a:pPr>
              <a:defRPr/>
            </a:pPr>
            <a:r>
              <a:rPr lang="en-US"/>
              <a:t>The pipeline in three steps. One: a LightGBM model per meter forecasts a day ahead, using only readings at least 24 hours old, so it cannot peek at what it is judging. Two: the gap between actual and forecast is scored against that meter's usual spread, and has to persist. Three: it becomes a finding with a detection strength; bands are cut at 0.50 and 0.75. The six categories in the data are burst of extra usage, appliance using more than expected, gradual drift, creeping always-on use, peak-hour waste and overnight excess. The shaded stretch on the strip is the validation window, where all settings were chosen. The model was trained on data before 25 Aug 2014. Config is frozen.</a:t>
            </a:r>
            <a:endParaRPr lang="en-US"/>
          </a:p>
        </p:txBody>
      </p:sp>
      <p:sp>
        <p:nvSpPr>
          <p:cNvPr id="317724464"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8082503" name="Slide Image Placeholder 1"/>
          <p:cNvSpPr>
            <a:spLocks noChangeAspect="1" noGrp="1" noRot="1"/>
          </p:cNvSpPr>
          <p:nvPr>
            <p:ph type="sldImg"/>
          </p:nvPr>
        </p:nvSpPr>
        <p:spPr bwMode="auto"/>
      </p:sp>
      <p:sp>
        <p:nvSpPr>
          <p:cNvPr id="797708056" name="Notes Placeholder 2"/>
          <p:cNvSpPr>
            <a:spLocks noGrp="1"/>
          </p:cNvSpPr>
          <p:nvPr>
            <p:ph type="body" idx="1"/>
          </p:nvPr>
        </p:nvSpPr>
        <p:spPr bwMode="auto"/>
        <p:txBody>
          <a:bodyPr/>
          <a:lstStyle/>
          <a:p>
            <a:pPr>
              <a:defRPr/>
            </a:pPr>
            <a:r>
              <a:rPr lang="en-US"/>
              <a:t>The honest slide. The test window, 31 Jan to 31 May 2015, was scored once, on a frozen config, with no tuning. Across all four homes and all meters, 37 labelled events were eligible and 11 were matched by a finding: recall 30%. There were 67 findings in the window, so precision is 16%, with 5.2 unmatched findings per home per month. Median delay to detection is 7.3 hours. Whole-house findings alone matched 4 of 37, with a median delay of 26.5 hours. Houses 10 and 18 were scored blind. The labels are REFIT annotations of unusual appliance behaviour (Rashid et al. 2019), not confirmed faults, and the annotation may be incomplete. The first scoring attempt crashed while writing the manifest, after scoring; only serialisation was fixed, and it is disclosed in the repo.</a:t>
            </a:r>
            <a:endParaRPr lang="en-US"/>
          </a:p>
        </p:txBody>
      </p:sp>
      <p:sp>
        <p:nvSpPr>
          <p:cNvPr id="324438767"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6521125" name="Slide Image Placeholder 1"/>
          <p:cNvSpPr>
            <a:spLocks noChangeAspect="1" noGrp="1" noRot="1"/>
          </p:cNvSpPr>
          <p:nvPr>
            <p:ph type="sldImg"/>
          </p:nvPr>
        </p:nvSpPr>
        <p:spPr bwMode="auto"/>
      </p:sp>
      <p:sp>
        <p:nvSpPr>
          <p:cNvPr id="1836799078" name="Notes Placeholder 2"/>
          <p:cNvSpPr>
            <a:spLocks noGrp="1"/>
          </p:cNvSpPr>
          <p:nvPr>
            <p:ph type="body" idx="1"/>
          </p:nvPr>
        </p:nvSpPr>
        <p:spPr bwMode="auto"/>
        <p:txBody>
          <a:bodyPr/>
          <a:lstStyle/>
          <a:p>
            <a:pPr>
              <a:defRPr/>
            </a:pPr>
            <a:r>
              <a:rPr lang="en-US"/>
              <a:t>Draft slide: swap in your real plan. All three rows come from the scoring slide: 11 of 37 labelled events found, the whole-house meter alone matched 4 of 37, and about 5.2 unmatched findings per home per month. Add or replace a row with your own next step, such as a pilot or a partner.</a:t>
            </a:r>
            <a:endParaRPr lang="en-US"/>
          </a:p>
        </p:txBody>
      </p:sp>
      <p:sp>
        <p:nvSpPr>
          <p:cNvPr id="2126427661"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7078615" name="Slide Image Placeholder 1"/>
          <p:cNvSpPr>
            <a:spLocks noChangeAspect="1" noGrp="1" noRot="1"/>
          </p:cNvSpPr>
          <p:nvPr>
            <p:ph type="sldImg"/>
          </p:nvPr>
        </p:nvSpPr>
        <p:spPr bwMode="auto"/>
      </p:sp>
      <p:sp>
        <p:nvSpPr>
          <p:cNvPr id="659858900" name="Notes Placeholder 2"/>
          <p:cNvSpPr>
            <a:spLocks noGrp="1"/>
          </p:cNvSpPr>
          <p:nvPr>
            <p:ph type="body" idx="1"/>
          </p:nvPr>
        </p:nvSpPr>
        <p:spPr bwMode="auto"/>
        <p:txBody>
          <a:bodyPr/>
          <a:lstStyle/>
          <a:p>
            <a:pPr>
              <a:defRPr/>
            </a:pPr>
            <a:r>
              <a:rPr lang="en-US"/>
              <a:t>Close on the line, then the demo. Remove the code line if the repository is private. Credit the dataset: REFIT is licensed CC BY 4.0.</a:t>
            </a:r>
            <a:endParaRPr lang="en-US"/>
          </a:p>
        </p:txBody>
      </p:sp>
      <p:sp>
        <p:nvSpPr>
          <p:cNvPr id="1383702596"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body">
    <p:bg>
      <p:bgPr shadeToTitle="0">
        <a:solidFill>
          <a:srgbClr val="2A1013"/>
        </a:solidFill>
      </p:bgPr>
    </p:bg>
    <p:spTree>
      <p:nvGrpSpPr>
        <p:cNvPr id="1" name=""/>
        <p:cNvGrpSpPr/>
        <p:nvPr/>
      </p:nvGrpSpPr>
      <p:grpSpPr bwMode="auto">
        <a:xfrm>
          <a:off x="0" y="0"/>
          <a:ext cx="0" cy="0"/>
          <a:chOff x="0" y="0"/>
          <a:chExt cx="0" cy="0"/>
        </a:xfrm>
      </p:grpSpPr>
      <p:sp>
        <p:nvSpPr>
          <p:cNvPr id="1283323596" name="Title Placeholder 1"/>
          <p:cNvSpPr/>
          <p:nvPr>
            <p:ph type="title"/>
          </p:nvPr>
        </p:nvSpPr>
        <p:spPr bwMode="auto">
          <a:xfrm>
            <a:off x="812750" y="812750"/>
            <a:ext cx="10566428" cy="614619"/>
          </a:xfrm>
          <a:prstGeom prst="rect">
            <a:avLst/>
          </a:prstGeom>
          <a:noFill/>
          <a:ln/>
        </p:spPr>
        <p:txBody>
          <a:bodyPr wrap="square" lIns="0" tIns="0" rIns="0" bIns="0" rtlCol="0" anchor="t"/>
          <a:lstStyle>
            <a:lvl1pPr marL="0" indent="0" algn="l">
              <a:lnSpc>
                <a:spcPct val="114999"/>
              </a:lnSpc>
              <a:buNone/>
              <a:defRPr lang="en-US" sz="4400">
                <a:solidFill>
                  <a:srgbClr val="F1E6E3"/>
                </a:solidFill>
                <a:latin typeface="Big Shoulders Display"/>
                <a:ea typeface="Big Shoulders Display"/>
                <a:cs typeface="Big Shoulders Display"/>
              </a:defRPr>
            </a:lvl1pPr>
          </a:lstStyle>
          <a:p>
            <a:pPr marL="0" indent="0" algn="l">
              <a:lnSpc>
                <a:spcPct val="114999"/>
              </a:lnSpc>
              <a:buNone/>
              <a:defRPr/>
            </a:pPr>
            <a:endParaRPr lang="en-US" sz="4400"/>
          </a:p>
        </p:txBody>
      </p:sp>
      <p:sp>
        <p:nvSpPr>
          <p:cNvPr id="961062383" name="Text Placeholder 2"/>
          <p:cNvSpPr/>
          <p:nvPr>
            <p:ph type="body" idx="101"/>
          </p:nvPr>
        </p:nvSpPr>
        <p:spPr bwMode="auto">
          <a:xfrm>
            <a:off x="812750" y="1732170"/>
            <a:ext cx="10566450" cy="4313030"/>
          </a:xfrm>
          <a:prstGeom prst="rect">
            <a:avLst/>
          </a:prstGeom>
          <a:noFill/>
          <a:ln/>
        </p:spPr>
        <p:txBody>
          <a:bodyPr wrap="square" lIns="0" tIns="0" rIns="0" bIns="0" rtlCol="0" anchor="t"/>
          <a:lstStyle>
            <a:lvl1pPr marL="0" indent="0" algn="l">
              <a:lnSpc>
                <a:spcPct val="140000"/>
              </a:lnSpc>
              <a:buNone/>
              <a:defRPr lang="en-US" sz="1600">
                <a:solidFill>
                  <a:srgbClr val="F1E6E3"/>
                </a:solidFill>
                <a:latin typeface="IBM Plex Sans"/>
                <a:ea typeface="IBM Plex Sans"/>
                <a:cs typeface="IBM Plex Sans"/>
              </a:defRPr>
            </a:lvl1pPr>
          </a:lstStyle>
          <a:p>
            <a:pPr marL="0" indent="0" algn="l">
              <a:lnSpc>
                <a:spcPct val="140000"/>
              </a:lnSpc>
              <a:buNone/>
              <a:defRPr/>
            </a:pPr>
            <a:endParaRPr lang="en-US" sz="1600"/>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2A1013"/>
        </a:solidFill>
      </p:bgPr>
    </p:bg>
    <p:spTree>
      <p:nvGrpSpPr>
        <p:cNvPr id="1" name=""/>
        <p:cNvGrpSpPr/>
        <p:nvPr/>
      </p:nvGrpSpPr>
      <p:grpSpPr bwMode="auto">
        <a:xfrm>
          <a:off x="0" y="0"/>
          <a:ext cx="0" cy="0"/>
          <a:chOff x="0" y="0"/>
          <a:chExt cx="0" cy="0"/>
        </a:xfrm>
      </p:grpSpPr>
      <p:sp>
        <p:nvSpPr>
          <p:cNvPr id="2124455141" name="Title Placeholder 1"/>
          <p:cNvSpPr/>
          <p:nvPr>
            <p:ph type="title"/>
          </p:nvPr>
        </p:nvSpPr>
        <p:spPr bwMode="auto">
          <a:xfrm>
            <a:off x="812750" y="812750"/>
            <a:ext cx="10566428" cy="614619"/>
          </a:xfrm>
          <a:prstGeom prst="rect">
            <a:avLst/>
          </a:prstGeom>
          <a:noFill/>
          <a:ln/>
        </p:spPr>
        <p:txBody>
          <a:bodyPr wrap="square" lIns="0" tIns="0" rIns="0" bIns="0" rtlCol="0" anchor="t"/>
          <a:lstStyle>
            <a:lvl1pPr marL="0" indent="0" algn="l">
              <a:lnSpc>
                <a:spcPct val="114999"/>
              </a:lnSpc>
              <a:buNone/>
              <a:defRPr lang="en-US" sz="4400">
                <a:solidFill>
                  <a:srgbClr val="F1E6E3"/>
                </a:solidFill>
                <a:latin typeface="Big Shoulders Display"/>
                <a:ea typeface="Big Shoulders Display"/>
                <a:cs typeface="Big Shoulders Display"/>
              </a:defRPr>
            </a:lvl1pPr>
          </a:lstStyle>
          <a:p>
            <a:pPr marL="0" indent="0" algn="l">
              <a:lnSpc>
                <a:spcPct val="114999"/>
              </a:lnSpc>
              <a:buNone/>
              <a:defRPr/>
            </a:pPr>
            <a:endParaRPr lang="en-US" sz="4400"/>
          </a:p>
        </p:txBody>
      </p:sp>
      <p:sp>
        <p:nvSpPr>
          <p:cNvPr id="1120905367" name="Text Placeholder 2"/>
          <p:cNvSpPr/>
          <p:nvPr>
            <p:ph type="body" idx="101"/>
          </p:nvPr>
        </p:nvSpPr>
        <p:spPr bwMode="auto">
          <a:xfrm>
            <a:off x="812750" y="1732170"/>
            <a:ext cx="10566450" cy="4313030"/>
          </a:xfrm>
          <a:prstGeom prst="rect">
            <a:avLst/>
          </a:prstGeom>
          <a:noFill/>
          <a:ln/>
        </p:spPr>
        <p:txBody>
          <a:bodyPr wrap="square" lIns="0" tIns="0" rIns="0" bIns="0" rtlCol="0" anchor="t"/>
          <a:lstStyle>
            <a:lvl1pPr marL="0" indent="0" algn="l">
              <a:lnSpc>
                <a:spcPct val="140000"/>
              </a:lnSpc>
              <a:buNone/>
              <a:defRPr lang="en-US" sz="1600">
                <a:solidFill>
                  <a:srgbClr val="F1E6E3"/>
                </a:solidFill>
                <a:latin typeface="IBM Plex Sans"/>
                <a:ea typeface="IBM Plex Sans"/>
                <a:cs typeface="IBM Plex Sans"/>
              </a:defRPr>
            </a:lvl1pPr>
          </a:lstStyle>
          <a:p>
            <a:pPr marL="0" indent="0" algn="l">
              <a:lnSpc>
                <a:spcPct val="140000"/>
              </a:lnSpc>
              <a:buNone/>
              <a:defRPr/>
            </a:pPr>
            <a:endParaRPr lang="en-US" sz="160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5.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7.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9.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2A1013"/>
        </a:solidFill>
      </p:bgPr>
    </p:bg>
    <p:spTree>
      <p:nvGrpSpPr>
        <p:cNvPr id="1" name=""/>
        <p:cNvGrpSpPr/>
        <p:nvPr/>
      </p:nvGrpSpPr>
      <p:grpSpPr bwMode="auto">
        <a:xfrm>
          <a:off x="0" y="0"/>
          <a:ext cx="0" cy="0"/>
          <a:chOff x="0" y="0"/>
          <a:chExt cx="0" cy="0"/>
        </a:xfrm>
      </p:grpSpPr>
      <p:pic>
        <p:nvPicPr>
          <p:cNvPr id="771009037" name="Image 0" descr="The WattsWrong street view: four houses in 3D, each with a badge showing how many findings it has right now"/>
          <p:cNvPicPr>
            <a:picLocks noChangeAspect="1"/>
          </p:cNvPicPr>
          <p:nvPr/>
        </p:nvPicPr>
        <p:blipFill rotWithShape="1">
          <a:blip r:embed="rId3"/>
          <a:srcRect l="0" t="6835" r="0" b="6834"/>
          <a:stretch/>
        </p:blipFill>
        <p:spPr bwMode="auto">
          <a:xfrm>
            <a:off x="0" y="0"/>
            <a:ext cx="12191927" cy="3047963"/>
          </a:xfrm>
          <a:prstGeom prst="rect">
            <a:avLst/>
          </a:prstGeom>
        </p:spPr>
      </p:pic>
      <p:sp>
        <p:nvSpPr>
          <p:cNvPr id="346790660" name="Shape 0"/>
          <p:cNvSpPr/>
          <p:nvPr/>
        </p:nvSpPr>
        <p:spPr bwMode="auto">
          <a:xfrm>
            <a:off x="0" y="2031950"/>
            <a:ext cx="12191927" cy="1015937"/>
          </a:xfrm>
          <a:prstGeom prst="rect">
            <a:avLst/>
          </a:prstGeom>
          <a:gradFill>
            <a:gsLst>
              <a:gs pos="0">
                <a:srgbClr val="2A1013">
                  <a:alpha val="0"/>
                </a:srgbClr>
              </a:gs>
              <a:gs pos="100000">
                <a:srgbClr val="2A1013"/>
              </a:gs>
            </a:gsLst>
            <a:lin ang="5400000" scaled="0"/>
          </a:gradFill>
          <a:ln/>
        </p:spPr>
      </p:sp>
      <p:sp>
        <p:nvSpPr>
          <p:cNvPr id="1869325837" name="Text 1"/>
          <p:cNvSpPr/>
          <p:nvPr>
            <p:ph type="title"/>
          </p:nvPr>
        </p:nvSpPr>
        <p:spPr bwMode="auto">
          <a:xfrm>
            <a:off x="812750" y="3205712"/>
            <a:ext cx="10883421" cy="1231844"/>
          </a:xfrm>
          <a:prstGeom prst="rect">
            <a:avLst/>
          </a:prstGeom>
          <a:noFill/>
          <a:ln/>
        </p:spPr>
        <p:txBody>
          <a:bodyPr wrap="square" lIns="0" tIns="0" rIns="0" bIns="0" rtlCol="0" anchor="t">
            <a:normAutofit/>
          </a:bodyPr>
          <a:lstStyle/>
          <a:p>
            <a:pPr marL="0" indent="0" algn="l">
              <a:lnSpc>
                <a:spcPts val="9500"/>
              </a:lnSpc>
              <a:buNone/>
              <a:defRPr/>
            </a:pPr>
            <a:r>
              <a:rPr lang="en-US" sz="10000" b="1" i="0" spc="-100">
                <a:solidFill>
                  <a:srgbClr val="F1E6E3"/>
                </a:solidFill>
                <a:latin typeface="Big Shoulders Display"/>
                <a:ea typeface="Big Shoulders Display"/>
                <a:cs typeface="Big Shoulders Display"/>
              </a:rPr>
              <a:t>watts</a:t>
            </a:r>
            <a:r>
              <a:rPr lang="en-US" sz="10000" b="1" i="0" spc="-100">
                <a:solidFill>
                  <a:srgbClr val="7BE0B0"/>
                </a:solidFill>
                <a:latin typeface="Big Shoulders Display"/>
                <a:ea typeface="Big Shoulders Display"/>
                <a:cs typeface="Big Shoulders Display"/>
              </a:rPr>
              <a:t>wrong</a:t>
            </a:r>
            <a:endParaRPr lang="en-US" sz="10000"/>
          </a:p>
        </p:txBody>
      </p:sp>
      <p:sp>
        <p:nvSpPr>
          <p:cNvPr id="1222811438" name="Text 2"/>
          <p:cNvSpPr/>
          <p:nvPr/>
        </p:nvSpPr>
        <p:spPr bwMode="auto">
          <a:xfrm>
            <a:off x="812750" y="4564548"/>
            <a:ext cx="8502631" cy="711044"/>
          </a:xfrm>
          <a:prstGeom prst="rect">
            <a:avLst/>
          </a:prstGeom>
          <a:noFill/>
          <a:ln/>
        </p:spPr>
        <p:txBody>
          <a:bodyPr wrap="square" lIns="0" tIns="0" rIns="0" bIns="0" rtlCol="0" anchor="t">
            <a:normAutofit/>
          </a:bodyPr>
          <a:lstStyle/>
          <a:p>
            <a:pPr marL="0" indent="0" algn="l">
              <a:lnSpc>
                <a:spcPts val="2700"/>
              </a:lnSpc>
              <a:buNone/>
              <a:defRPr/>
            </a:pPr>
            <a:r>
              <a:rPr lang="en-US" sz="2000">
                <a:solidFill>
                  <a:srgbClr val="CDB9B4"/>
                </a:solidFill>
                <a:latin typeface="IBM Plex Sans"/>
                <a:ea typeface="IBM Plex Sans"/>
                <a:cs typeface="IBM Plex Sans"/>
              </a:rPr>
              <a:t>A closer look at home. Four real UK homes, nine months of electricity, replayed in 3D.</a:t>
            </a:r>
            <a:endParaRPr lang="en-US" sz="2000"/>
          </a:p>
        </p:txBody>
      </p:sp>
      <p:sp>
        <p:nvSpPr>
          <p:cNvPr id="2039076464" name="Text 3"/>
          <p:cNvSpPr/>
          <p:nvPr/>
        </p:nvSpPr>
        <p:spPr bwMode="auto">
          <a:xfrm>
            <a:off x="812750" y="5402583"/>
            <a:ext cx="10883421" cy="274327"/>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CDB9B4"/>
                </a:solidFill>
                <a:latin typeface="IBM Plex Sans"/>
                <a:ea typeface="IBM Plex Sans"/>
                <a:cs typeface="IBM Plex Sans"/>
              </a:rPr>
              <a:t>H. A. T. M., AI Dormathon</a:t>
            </a:r>
            <a:endParaRPr lang="en-US" sz="1400"/>
          </a:p>
        </p:txBody>
      </p:sp>
      <p:sp>
        <p:nvSpPr>
          <p:cNvPr id="166854098" name="Text 4"/>
          <p:cNvSpPr/>
          <p:nvPr/>
        </p:nvSpPr>
        <p:spPr bwMode="auto">
          <a:xfrm>
            <a:off x="812750" y="5714987"/>
            <a:ext cx="10883342"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CDB9B4"/>
                </a:solidFill>
                <a:latin typeface="IBM Plex Sans"/>
                <a:ea typeface="IBM Plex Sans"/>
                <a:cs typeface="IBM Plex Sans"/>
              </a:rPr>
              <a:t>Replay position: Fri 24 Oct 2014, 05:00</a:t>
            </a:r>
            <a:endParaRPr lang="en-US" sz="1200"/>
          </a:p>
        </p:txBody>
      </p:sp>
      <p:pic>
        <p:nvPicPr>
          <p:cNvPr id="1484213182" name="Image 1" descr="Every finding in the four homes, laid out as a timeline from 25 Aug 2014 to 31 May 2015"/>
          <p:cNvPicPr>
            <a:picLocks noChangeAspect="1"/>
          </p:cNvPicPr>
          <p:nvPr/>
        </p:nvPicPr>
        <p:blipFill rotWithShape="1">
          <a:blip r:embed="rId4"/>
          <a:srcRect l="0" t="15" r="0" b="15"/>
          <a:stretch/>
        </p:blipFill>
        <p:spPr bwMode="auto">
          <a:xfrm>
            <a:off x="812750" y="6032449"/>
            <a:ext cx="10566352" cy="444491"/>
          </a:xfrm>
          <a:prstGeom prst="rect">
            <a:avLst/>
          </a:prstGeom>
        </p:spPr>
      </p:pic>
      <p:sp>
        <p:nvSpPr>
          <p:cNvPr id="134620297" name="Shape 5"/>
          <p:cNvSpPr/>
          <p:nvPr/>
        </p:nvSpPr>
        <p:spPr bwMode="auto">
          <a:xfrm>
            <a:off x="3079739" y="5956291"/>
            <a:ext cx="25361" cy="596882"/>
          </a:xfrm>
          <a:prstGeom prst="rect">
            <a:avLst/>
          </a:prstGeom>
          <a:solidFill>
            <a:srgbClr val="F1E6E3"/>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6A3D"/>
        </a:solidFill>
      </p:bgPr>
    </p:bg>
    <p:spTree>
      <p:nvGrpSpPr>
        <p:cNvPr id="1" name=""/>
        <p:cNvGrpSpPr/>
        <p:nvPr/>
      </p:nvGrpSpPr>
      <p:grpSpPr bwMode="auto">
        <a:xfrm>
          <a:off x="0" y="0"/>
          <a:ext cx="0" cy="0"/>
          <a:chOff x="0" y="0"/>
          <a:chExt cx="0" cy="0"/>
        </a:xfrm>
      </p:grpSpPr>
      <p:sp>
        <p:nvSpPr>
          <p:cNvPr id="1223775622" name="Shape 0"/>
          <p:cNvSpPr/>
          <p:nvPr/>
        </p:nvSpPr>
        <p:spPr bwMode="auto">
          <a:xfrm>
            <a:off x="0" y="5587957"/>
            <a:ext cx="12191927" cy="1269997"/>
          </a:xfrm>
          <a:prstGeom prst="rect">
            <a:avLst/>
          </a:prstGeom>
          <a:solidFill>
            <a:srgbClr val="2A1013"/>
          </a:solidFill>
          <a:ln/>
        </p:spPr>
      </p:sp>
      <p:sp>
        <p:nvSpPr>
          <p:cNvPr id="1269510539" name="Text 1"/>
          <p:cNvSpPr/>
          <p:nvPr>
            <p:ph type="title"/>
          </p:nvPr>
        </p:nvSpPr>
        <p:spPr bwMode="auto">
          <a:xfrm>
            <a:off x="812750" y="812750"/>
            <a:ext cx="9810728" cy="1549457"/>
          </a:xfrm>
          <a:prstGeom prst="rect">
            <a:avLst/>
          </a:prstGeom>
          <a:noFill/>
          <a:ln/>
        </p:spPr>
        <p:txBody>
          <a:bodyPr wrap="square" lIns="0" tIns="0" rIns="0" bIns="0" rtlCol="0" anchor="t">
            <a:normAutofit/>
          </a:bodyPr>
          <a:lstStyle/>
          <a:p>
            <a:pPr marL="0" indent="0" algn="l">
              <a:lnSpc>
                <a:spcPts val="6000"/>
              </a:lnSpc>
              <a:buNone/>
              <a:defRPr/>
            </a:pPr>
            <a:r>
              <a:rPr lang="en-US" sz="6000" b="1" i="0">
                <a:solidFill>
                  <a:srgbClr val="2A1013"/>
                </a:solidFill>
                <a:latin typeface="Big Shoulders Display"/>
                <a:ea typeface="Big Shoulders Display"/>
                <a:cs typeface="Big Shoulders Display"/>
              </a:rPr>
              <a:t>Your bill says what you spent. It can't say what went wrong.</a:t>
            </a:r>
            <a:endParaRPr lang="en-US" sz="6000"/>
          </a:p>
        </p:txBody>
      </p:sp>
      <p:sp>
        <p:nvSpPr>
          <p:cNvPr id="999777353" name="Text 2"/>
          <p:cNvSpPr/>
          <p:nvPr/>
        </p:nvSpPr>
        <p:spPr bwMode="auto">
          <a:xfrm>
            <a:off x="812750" y="4813324"/>
            <a:ext cx="7194534" cy="736555"/>
          </a:xfrm>
          <a:prstGeom prst="rect">
            <a:avLst/>
          </a:prstGeom>
          <a:noFill/>
          <a:ln/>
        </p:spPr>
        <p:txBody>
          <a:bodyPr wrap="square" lIns="0" tIns="0" rIns="0" bIns="0" rtlCol="0" anchor="t">
            <a:normAutofit/>
          </a:bodyPr>
          <a:lstStyle/>
          <a:p>
            <a:pPr marL="0" indent="0" algn="l">
              <a:lnSpc>
                <a:spcPts val="2800"/>
              </a:lnSpc>
              <a:buNone/>
              <a:defRPr/>
            </a:pPr>
            <a:r>
              <a:rPr lang="en-US" sz="2000">
                <a:solidFill>
                  <a:srgbClr val="2A1013"/>
                </a:solidFill>
                <a:latin typeface="IBM Plex Sans"/>
                <a:ea typeface="IBM Plex Sans"/>
                <a:cs typeface="IBM Plex Sans"/>
              </a:rPr>
              <a:t>A heater left on for three nights just makes next month's bill a little bigger.</a:t>
            </a:r>
            <a:endParaRPr lang="en-US" sz="2000"/>
          </a:p>
        </p:txBody>
      </p:sp>
      <p:sp>
        <p:nvSpPr>
          <p:cNvPr id="2035584450" name="Text 3"/>
          <p:cNvSpPr/>
          <p:nvPr/>
        </p:nvSpPr>
        <p:spPr bwMode="auto">
          <a:xfrm>
            <a:off x="812750" y="5714988"/>
            <a:ext cx="10883342"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CDB9B4"/>
                </a:solidFill>
                <a:latin typeface="IBM Plex Sans"/>
                <a:ea typeface="IBM Plex Sans"/>
                <a:cs typeface="IBM Plex Sans"/>
              </a:rPr>
              <a:t>Replay position: Mon 25 Aug 2014, 00:00</a:t>
            </a:r>
            <a:endParaRPr lang="en-US" sz="1200"/>
          </a:p>
        </p:txBody>
      </p:sp>
      <p:pic>
        <p:nvPicPr>
          <p:cNvPr id="2051314945" name="Image 0" descr="Every finding in the four homes, laid out as a timeline from 25 Aug 2014 to 31 May 2015"/>
          <p:cNvPicPr>
            <a:picLocks noChangeAspect="1"/>
          </p:cNvPicPr>
          <p:nvPr/>
        </p:nvPicPr>
        <p:blipFill rotWithShape="1">
          <a:blip r:embed="rId3"/>
          <a:srcRect l="0" t="15" r="0" b="15"/>
          <a:stretch/>
        </p:blipFill>
        <p:spPr bwMode="auto">
          <a:xfrm>
            <a:off x="812750" y="6032449"/>
            <a:ext cx="10566352" cy="444491"/>
          </a:xfrm>
          <a:prstGeom prst="rect">
            <a:avLst/>
          </a:prstGeom>
        </p:spPr>
      </p:pic>
      <p:sp>
        <p:nvSpPr>
          <p:cNvPr id="1538810824" name="Shape 4"/>
          <p:cNvSpPr/>
          <p:nvPr/>
        </p:nvSpPr>
        <p:spPr bwMode="auto">
          <a:xfrm>
            <a:off x="800070" y="5956291"/>
            <a:ext cx="25361" cy="596882"/>
          </a:xfrm>
          <a:prstGeom prst="rect">
            <a:avLst/>
          </a:prstGeom>
          <a:solidFill>
            <a:srgbClr val="F1E6E3"/>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E9EEEC"/>
        </a:solidFill>
      </p:bgPr>
    </p:bg>
    <p:spTree>
      <p:nvGrpSpPr>
        <p:cNvPr id="1" name=""/>
        <p:cNvGrpSpPr/>
        <p:nvPr/>
      </p:nvGrpSpPr>
      <p:grpSpPr bwMode="auto">
        <a:xfrm>
          <a:off x="0" y="0"/>
          <a:ext cx="0" cy="0"/>
          <a:chOff x="0" y="0"/>
          <a:chExt cx="0" cy="0"/>
        </a:xfrm>
      </p:grpSpPr>
      <p:sp>
        <p:nvSpPr>
          <p:cNvPr id="2055755404" name="Text 0"/>
          <p:cNvSpPr/>
          <p:nvPr>
            <p:ph type="title"/>
          </p:nvPr>
        </p:nvSpPr>
        <p:spPr bwMode="auto">
          <a:xfrm>
            <a:off x="812750" y="812750"/>
            <a:ext cx="4316658" cy="1198785"/>
          </a:xfrm>
          <a:prstGeom prst="rect">
            <a:avLst/>
          </a:prstGeom>
          <a:noFill/>
          <a:ln/>
        </p:spPr>
        <p:txBody>
          <a:bodyPr wrap="square" lIns="0" tIns="0" rIns="0" bIns="0" rtlCol="0" anchor="t">
            <a:normAutofit/>
          </a:bodyPr>
          <a:lstStyle/>
          <a:p>
            <a:pPr marL="0" indent="0" algn="l">
              <a:lnSpc>
                <a:spcPts val="4620"/>
              </a:lnSpc>
              <a:buNone/>
              <a:defRPr/>
            </a:pPr>
            <a:r>
              <a:rPr lang="en-US" sz="4400" b="1" i="0">
                <a:solidFill>
                  <a:srgbClr val="2A1013"/>
                </a:solidFill>
                <a:latin typeface="Big Shoulders Display"/>
                <a:ea typeface="Big Shoulders Display"/>
                <a:cs typeface="Big Shoulders Display"/>
              </a:rPr>
              <a:t>One street, four real homes</a:t>
            </a:r>
            <a:endParaRPr lang="en-US" sz="4400"/>
          </a:p>
        </p:txBody>
      </p:sp>
      <p:sp>
        <p:nvSpPr>
          <p:cNvPr id="710688583" name="Text 1"/>
          <p:cNvSpPr/>
          <p:nvPr/>
        </p:nvSpPr>
        <p:spPr bwMode="auto">
          <a:xfrm>
            <a:off x="812750" y="2189322"/>
            <a:ext cx="4316658" cy="1803290"/>
          </a:xfrm>
          <a:prstGeom prst="rect">
            <a:avLst/>
          </a:prstGeom>
          <a:noFill/>
          <a:ln/>
        </p:spPr>
        <p:txBody>
          <a:bodyPr wrap="square" lIns="0" tIns="0" rIns="0" bIns="0" rtlCol="0" anchor="t">
            <a:normAutofit/>
          </a:bodyPr>
          <a:lstStyle/>
          <a:p>
            <a:pPr marL="0" indent="0" algn="l">
              <a:lnSpc>
                <a:spcPts val="2800"/>
              </a:lnSpc>
              <a:buNone/>
              <a:defRPr/>
            </a:pPr>
            <a:r>
              <a:rPr lang="en-US" sz="2000">
                <a:solidFill>
                  <a:srgbClr val="4F3A3D"/>
                </a:solidFill>
                <a:latin typeface="IBM Plex Sans"/>
                <a:ea typeface="IBM Plex Sans"/>
                <a:cs typeface="IBM Plex Sans"/>
              </a:rPr>
              <a:t>Each home is a real household from the REFIT study. A badge on the street shows what is wrong right now, and it changes as the replay moves.</a:t>
            </a:r>
            <a:endParaRPr lang="en-US" sz="2000"/>
          </a:p>
        </p:txBody>
      </p:sp>
      <p:sp>
        <p:nvSpPr>
          <p:cNvPr id="1725938390" name="Text 2"/>
          <p:cNvSpPr/>
          <p:nvPr/>
        </p:nvSpPr>
        <p:spPr bwMode="auto">
          <a:xfrm>
            <a:off x="812750" y="4170400"/>
            <a:ext cx="4316658" cy="523255"/>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6B5558"/>
                </a:solidFill>
                <a:latin typeface="IBM Plex Sans"/>
                <a:ea typeface="IBM Plex Sans"/>
                <a:cs typeface="IBM Plex Sans"/>
              </a:rPr>
              <a:t>4 homes, 16 meters, 81,046 hourly readings, 179 findings.</a:t>
            </a:r>
            <a:endParaRPr lang="en-US" sz="1400"/>
          </a:p>
        </p:txBody>
      </p:sp>
      <p:pic>
        <p:nvPicPr>
          <p:cNvPr id="1624440149" name="Image 0" descr="The WattsWrong app: a 3D street of four homes with finding badges, a detection strength legend and the replay timeline underneath"/>
          <p:cNvPicPr>
            <a:picLocks noChangeAspect="1"/>
          </p:cNvPicPr>
          <p:nvPr/>
        </p:nvPicPr>
        <p:blipFill rotWithShape="1">
          <a:blip r:embed="rId3"/>
          <a:srcRect l="0" t="0" r="0" b="0"/>
          <a:stretch/>
        </p:blipFill>
        <p:spPr bwMode="auto">
          <a:xfrm>
            <a:off x="5283025" y="812750"/>
            <a:ext cx="6095926" cy="3428977"/>
          </a:xfrm>
          <a:prstGeom prst="rect">
            <a:avLst/>
          </a:prstGeom>
          <a:effectLst>
            <a:outerShdw blurRad="406400" dist="152400" dir="5400000" sx="100000" sy="100000" kx="0" ky="0" algn="bl" rotWithShape="0">
              <a:srgbClr val="2A1013">
                <a:alpha val="25000"/>
              </a:srgbClr>
            </a:outerShdw>
          </a:effectLst>
        </p:spPr>
      </p:pic>
      <p:sp>
        <p:nvSpPr>
          <p:cNvPr id="290915377" name="Text 3"/>
          <p:cNvSpPr/>
          <p:nvPr/>
        </p:nvSpPr>
        <p:spPr bwMode="auto">
          <a:xfrm>
            <a:off x="812750" y="5714988"/>
            <a:ext cx="10883342"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5558"/>
                </a:solidFill>
                <a:latin typeface="IBM Plex Sans"/>
                <a:ea typeface="IBM Plex Sans"/>
                <a:cs typeface="IBM Plex Sans"/>
              </a:rPr>
              <a:t>Replay position: Fri 24 Oct 2014, 05:00</a:t>
            </a:r>
            <a:endParaRPr lang="en-US" sz="1200"/>
          </a:p>
        </p:txBody>
      </p:sp>
      <p:pic>
        <p:nvPicPr>
          <p:cNvPr id="1615568653" name="Image 1" descr="Every finding in the four homes, laid out as a timeline from 25 Aug 2014 to 31 May 2015"/>
          <p:cNvPicPr>
            <a:picLocks noChangeAspect="1"/>
          </p:cNvPicPr>
          <p:nvPr/>
        </p:nvPicPr>
        <p:blipFill rotWithShape="1">
          <a:blip r:embed="rId4"/>
          <a:srcRect l="0" t="15" r="0" b="15"/>
          <a:stretch/>
        </p:blipFill>
        <p:spPr bwMode="auto">
          <a:xfrm>
            <a:off x="812750" y="6032449"/>
            <a:ext cx="10566352" cy="444491"/>
          </a:xfrm>
          <a:prstGeom prst="rect">
            <a:avLst/>
          </a:prstGeom>
        </p:spPr>
      </p:pic>
      <p:sp>
        <p:nvSpPr>
          <p:cNvPr id="874794335" name="Shape 4"/>
          <p:cNvSpPr/>
          <p:nvPr/>
        </p:nvSpPr>
        <p:spPr bwMode="auto">
          <a:xfrm>
            <a:off x="3079739" y="5956291"/>
            <a:ext cx="25361" cy="596882"/>
          </a:xfrm>
          <a:prstGeom prst="rect">
            <a:avLst/>
          </a:prstGeom>
          <a:solidFill>
            <a:srgbClr val="2A1013"/>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2A1013"/>
        </a:solidFill>
      </p:bgPr>
    </p:bg>
    <p:spTree>
      <p:nvGrpSpPr>
        <p:cNvPr id="1" name=""/>
        <p:cNvGrpSpPr/>
        <p:nvPr/>
      </p:nvGrpSpPr>
      <p:grpSpPr bwMode="auto">
        <a:xfrm>
          <a:off x="0" y="0"/>
          <a:ext cx="0" cy="0"/>
          <a:chOff x="0" y="0"/>
          <a:chExt cx="0" cy="0"/>
        </a:xfrm>
      </p:grpSpPr>
      <p:sp>
        <p:nvSpPr>
          <p:cNvPr id="240524549" name="Text 0"/>
          <p:cNvSpPr/>
          <p:nvPr>
            <p:ph type="title"/>
          </p:nvPr>
        </p:nvSpPr>
        <p:spPr bwMode="auto">
          <a:xfrm>
            <a:off x="812750" y="812749"/>
            <a:ext cx="10883421" cy="640019"/>
          </a:xfrm>
          <a:prstGeom prst="rect">
            <a:avLst/>
          </a:prstGeom>
          <a:noFill/>
          <a:ln/>
        </p:spPr>
        <p:txBody>
          <a:bodyPr wrap="square" lIns="0" tIns="0" rIns="0" bIns="0" rtlCol="0" anchor="t">
            <a:normAutofit/>
          </a:bodyPr>
          <a:lstStyle/>
          <a:p>
            <a:pPr marL="0" indent="0" algn="l">
              <a:lnSpc>
                <a:spcPts val="4840"/>
              </a:lnSpc>
              <a:buNone/>
              <a:defRPr/>
            </a:pPr>
            <a:r>
              <a:rPr lang="en-US" sz="4400" b="1" i="0">
                <a:solidFill>
                  <a:srgbClr val="F1E6E3"/>
                </a:solidFill>
                <a:latin typeface="Big Shoulders Display"/>
                <a:ea typeface="Big Shoulders Display"/>
                <a:cs typeface="Big Shoulders Display"/>
              </a:rPr>
              <a:t>Click twice and you're inside</a:t>
            </a:r>
            <a:endParaRPr lang="en-US" sz="4400"/>
          </a:p>
        </p:txBody>
      </p:sp>
      <p:sp>
        <p:nvSpPr>
          <p:cNvPr id="740349161" name="Text 1"/>
          <p:cNvSpPr/>
          <p:nvPr/>
        </p:nvSpPr>
        <p:spPr bwMode="auto">
          <a:xfrm>
            <a:off x="812750" y="1732150"/>
            <a:ext cx="3270243" cy="1092134"/>
          </a:xfrm>
          <a:prstGeom prst="rect">
            <a:avLst/>
          </a:prstGeom>
          <a:noFill/>
          <a:ln/>
        </p:spPr>
        <p:txBody>
          <a:bodyPr wrap="square" lIns="0" tIns="0" rIns="0" bIns="0" rtlCol="0" anchor="t">
            <a:normAutofit/>
          </a:bodyPr>
          <a:lstStyle/>
          <a:p>
            <a:pPr marL="0" indent="0" algn="l">
              <a:lnSpc>
                <a:spcPts val="2800"/>
              </a:lnSpc>
              <a:buNone/>
              <a:defRPr/>
            </a:pPr>
            <a:r>
              <a:rPr lang="en-US" sz="2000">
                <a:solidFill>
                  <a:srgbClr val="F1E6E3"/>
                </a:solidFill>
                <a:latin typeface="IBM Plex Sans"/>
                <a:ea typeface="IBM Plex Sans"/>
                <a:cs typeface="IBM Plex Sans"/>
              </a:rPr>
              <a:t>The rooms are illustrative. The meters and the findings are real.</a:t>
            </a:r>
            <a:endParaRPr lang="en-US" sz="2000"/>
          </a:p>
        </p:txBody>
      </p:sp>
      <p:sp>
        <p:nvSpPr>
          <p:cNvPr id="310361711" name="Text 2"/>
          <p:cNvSpPr/>
          <p:nvPr/>
        </p:nvSpPr>
        <p:spPr bwMode="auto">
          <a:xfrm>
            <a:off x="812750" y="3002073"/>
            <a:ext cx="3270243" cy="772182"/>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CDB9B4"/>
                </a:solidFill>
                <a:latin typeface="IBM Plex Sans"/>
                <a:ea typeface="IBM Plex Sans"/>
                <a:cs typeface="IBM Plex Sans"/>
              </a:rPr>
              <a:t>Click a meter and its card shows what was found, how long it has run, the extra cost so far and what to check.</a:t>
            </a:r>
            <a:endParaRPr lang="en-US" sz="1400"/>
          </a:p>
        </p:txBody>
      </p:sp>
      <p:pic>
        <p:nvPicPr>
          <p:cNvPr id="556667370" name="Image 0" descr="Cutaway of Home A with the electric heater card open: running for 34 hours, high detection strength"/>
          <p:cNvPicPr>
            <a:picLocks noChangeAspect="1"/>
          </p:cNvPicPr>
          <p:nvPr/>
        </p:nvPicPr>
        <p:blipFill rotWithShape="1">
          <a:blip r:embed="rId3"/>
          <a:srcRect l="29" t="0" r="28" b="0"/>
          <a:stretch/>
        </p:blipFill>
        <p:spPr bwMode="auto">
          <a:xfrm>
            <a:off x="4394118" y="1732150"/>
            <a:ext cx="6984984" cy="3575028"/>
          </a:xfrm>
          <a:prstGeom prst="rect">
            <a:avLst/>
          </a:prstGeom>
        </p:spPr>
      </p:pic>
      <p:sp>
        <p:nvSpPr>
          <p:cNvPr id="2076876483" name="Text 3"/>
          <p:cNvSpPr/>
          <p:nvPr/>
        </p:nvSpPr>
        <p:spPr bwMode="auto">
          <a:xfrm>
            <a:off x="812750" y="5714988"/>
            <a:ext cx="10883342"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CDB9B4"/>
                </a:solidFill>
                <a:latin typeface="IBM Plex Sans"/>
                <a:ea typeface="IBM Plex Sans"/>
                <a:cs typeface="IBM Plex Sans"/>
              </a:rPr>
              <a:t>Replay position: Wed 26 Nov 2014, 11:00, Home A</a:t>
            </a:r>
            <a:endParaRPr lang="en-US" sz="1200"/>
          </a:p>
        </p:txBody>
      </p:sp>
      <p:pic>
        <p:nvPicPr>
          <p:cNvPr id="675303349" name="Image 1" descr="Every finding in the four homes, laid out as a timeline from 25 Aug 2014 to 31 May 2015"/>
          <p:cNvPicPr>
            <a:picLocks noChangeAspect="1"/>
          </p:cNvPicPr>
          <p:nvPr/>
        </p:nvPicPr>
        <p:blipFill rotWithShape="1">
          <a:blip r:embed="rId4"/>
          <a:srcRect l="0" t="15" r="0" b="15"/>
          <a:stretch/>
        </p:blipFill>
        <p:spPr bwMode="auto">
          <a:xfrm>
            <a:off x="812750" y="6032447"/>
            <a:ext cx="10566352" cy="444491"/>
          </a:xfrm>
          <a:prstGeom prst="rect">
            <a:avLst/>
          </a:prstGeom>
        </p:spPr>
      </p:pic>
      <p:sp>
        <p:nvSpPr>
          <p:cNvPr id="259965296" name="Shape 4"/>
          <p:cNvSpPr/>
          <p:nvPr/>
        </p:nvSpPr>
        <p:spPr bwMode="auto">
          <a:xfrm>
            <a:off x="4336981" y="5956291"/>
            <a:ext cx="25361" cy="596882"/>
          </a:xfrm>
          <a:prstGeom prst="rect">
            <a:avLst/>
          </a:prstGeom>
          <a:solidFill>
            <a:srgbClr val="F1E6E3"/>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E9EEEC"/>
        </a:solidFill>
      </p:bgPr>
    </p:bg>
    <p:spTree>
      <p:nvGrpSpPr>
        <p:cNvPr id="1" name=""/>
        <p:cNvGrpSpPr/>
        <p:nvPr/>
      </p:nvGrpSpPr>
      <p:grpSpPr bwMode="auto">
        <a:xfrm>
          <a:off x="0" y="0"/>
          <a:ext cx="0" cy="0"/>
          <a:chOff x="0" y="0"/>
          <a:chExt cx="0" cy="0"/>
        </a:xfrm>
      </p:grpSpPr>
      <p:sp>
        <p:nvSpPr>
          <p:cNvPr id="896434079" name="Text 0"/>
          <p:cNvSpPr/>
          <p:nvPr>
            <p:ph type="title"/>
          </p:nvPr>
        </p:nvSpPr>
        <p:spPr bwMode="auto">
          <a:xfrm>
            <a:off x="812749" y="421302"/>
            <a:ext cx="10883421" cy="640019"/>
          </a:xfrm>
          <a:prstGeom prst="rect">
            <a:avLst/>
          </a:prstGeom>
          <a:noFill/>
          <a:ln/>
        </p:spPr>
        <p:txBody>
          <a:bodyPr wrap="square" lIns="0" tIns="0" rIns="0" bIns="0" rtlCol="0" anchor="t">
            <a:normAutofit/>
          </a:bodyPr>
          <a:lstStyle/>
          <a:p>
            <a:pPr marL="0" indent="0" algn="l">
              <a:lnSpc>
                <a:spcPts val="4840"/>
              </a:lnSpc>
              <a:buNone/>
              <a:defRPr/>
            </a:pPr>
            <a:r>
              <a:rPr lang="en-US" sz="4400" b="1" i="0">
                <a:solidFill>
                  <a:srgbClr val="2A1013"/>
                </a:solidFill>
                <a:latin typeface="Big Shoulders Display"/>
                <a:ea typeface="Big Shoulders Display"/>
                <a:cs typeface="Big Shoulders Display"/>
              </a:rPr>
              <a:t>A heater, on through three early mornings</a:t>
            </a:r>
            <a:endParaRPr lang="en-US" sz="4400"/>
          </a:p>
        </p:txBody>
      </p:sp>
      <p:sp>
        <p:nvSpPr>
          <p:cNvPr id="784053471" name="Text 1"/>
          <p:cNvSpPr/>
          <p:nvPr/>
        </p:nvSpPr>
        <p:spPr bwMode="auto">
          <a:xfrm>
            <a:off x="812750" y="1605121"/>
            <a:ext cx="9156679" cy="736555"/>
          </a:xfrm>
          <a:prstGeom prst="rect">
            <a:avLst/>
          </a:prstGeom>
          <a:noFill/>
          <a:ln/>
        </p:spPr>
        <p:txBody>
          <a:bodyPr wrap="square" lIns="0" tIns="0" rIns="0" bIns="0" rtlCol="0" anchor="t">
            <a:normAutofit/>
          </a:bodyPr>
          <a:lstStyle/>
          <a:p>
            <a:pPr marL="0" indent="0" algn="l">
              <a:lnSpc>
                <a:spcPts val="2800"/>
              </a:lnSpc>
              <a:buNone/>
              <a:defRPr/>
            </a:pPr>
            <a:r>
              <a:rPr lang="en-US" sz="2000">
                <a:solidFill>
                  <a:srgbClr val="4F3A3D"/>
                </a:solidFill>
                <a:latin typeface="IBM Plex Sans"/>
                <a:ea typeface="IBM Plex Sans"/>
                <a:cs typeface="IBM Plex Sans"/>
              </a:rPr>
              <a:t>5.80 kWh more than forecast across 2.2 days. Flagged on 25 Nov at 07:00, six hours after it began.</a:t>
            </a:r>
            <a:endParaRPr lang="en-US" sz="2000"/>
          </a:p>
        </p:txBody>
      </p:sp>
      <p:sp>
        <p:nvSpPr>
          <p:cNvPr id="1345948205" name="Shape 2"/>
          <p:cNvSpPr/>
          <p:nvPr/>
        </p:nvSpPr>
        <p:spPr bwMode="auto">
          <a:xfrm>
            <a:off x="812750" y="2529579"/>
            <a:ext cx="177751" cy="177751"/>
          </a:xfrm>
          <a:prstGeom prst="rect">
            <a:avLst/>
          </a:prstGeom>
          <a:solidFill>
            <a:srgbClr val="D9431A"/>
          </a:solidFill>
          <a:ln/>
        </p:spPr>
      </p:sp>
      <p:sp>
        <p:nvSpPr>
          <p:cNvPr id="2038599504" name="Text 3"/>
          <p:cNvSpPr/>
          <p:nvPr/>
        </p:nvSpPr>
        <p:spPr bwMode="auto">
          <a:xfrm>
            <a:off x="1079339" y="2494028"/>
            <a:ext cx="1903184" cy="274327"/>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4F3A3D"/>
                </a:solidFill>
                <a:latin typeface="IBM Plex Sans"/>
                <a:ea typeface="IBM Plex Sans"/>
                <a:cs typeface="IBM Plex Sans"/>
              </a:rPr>
              <a:t>Actual use, per hour</a:t>
            </a:r>
            <a:endParaRPr lang="en-US" sz="1400"/>
          </a:p>
        </p:txBody>
      </p:sp>
      <p:pic>
        <p:nvPicPr>
          <p:cNvPr id="474179746" name="Image 0" descr="line"/>
          <p:cNvPicPr>
            <a:picLocks noChangeAspect="1"/>
          </p:cNvPicPr>
          <p:nvPr/>
        </p:nvPicPr>
        <p:blipFill rotWithShape="1">
          <a:blip r:embed="rId3"/>
          <a:srcRect l="-2578" t="0" r="-2578" b="0"/>
          <a:stretch/>
        </p:blipFill>
        <p:spPr bwMode="auto">
          <a:xfrm>
            <a:off x="2982523" y="2594338"/>
            <a:ext cx="355578" cy="48306"/>
          </a:xfrm>
          <a:prstGeom prst="rect">
            <a:avLst/>
          </a:prstGeom>
        </p:spPr>
      </p:pic>
      <p:sp>
        <p:nvSpPr>
          <p:cNvPr id="345156552" name="Text 4"/>
          <p:cNvSpPr/>
          <p:nvPr/>
        </p:nvSpPr>
        <p:spPr bwMode="auto">
          <a:xfrm>
            <a:off x="3426939" y="2494028"/>
            <a:ext cx="1287961" cy="274327"/>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4F3A3D"/>
                </a:solidFill>
                <a:latin typeface="IBM Plex Sans"/>
                <a:ea typeface="IBM Plex Sans"/>
                <a:cs typeface="IBM Plex Sans"/>
              </a:rPr>
              <a:t>Expected use</a:t>
            </a:r>
            <a:endParaRPr lang="en-US" sz="1400"/>
          </a:p>
        </p:txBody>
      </p:sp>
      <p:sp>
        <p:nvSpPr>
          <p:cNvPr id="94094158" name="Shape 5"/>
          <p:cNvSpPr/>
          <p:nvPr/>
        </p:nvSpPr>
        <p:spPr bwMode="auto">
          <a:xfrm>
            <a:off x="4811371" y="2535929"/>
            <a:ext cx="165051" cy="165051"/>
          </a:xfrm>
          <a:prstGeom prst="rect">
            <a:avLst/>
          </a:prstGeom>
          <a:solidFill>
            <a:srgbClr val="D9431A">
              <a:alpha val="15999"/>
            </a:srgbClr>
          </a:solidFill>
          <a:ln w="12700">
            <a:solidFill>
              <a:srgbClr val="D9431A"/>
            </a:solidFill>
            <a:prstDash val="solid"/>
          </a:ln>
        </p:spPr>
      </p:sp>
      <p:sp>
        <p:nvSpPr>
          <p:cNvPr id="1640170436" name="Text 6"/>
          <p:cNvSpPr/>
          <p:nvPr/>
        </p:nvSpPr>
        <p:spPr bwMode="auto">
          <a:xfrm>
            <a:off x="5071611" y="2494028"/>
            <a:ext cx="2637331" cy="274327"/>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4F3A3D"/>
                </a:solidFill>
                <a:latin typeface="IBM Plex Sans"/>
                <a:ea typeface="IBM Plex Sans"/>
                <a:cs typeface="IBM Plex Sans"/>
              </a:rPr>
              <a:t>Time covered by the finding</a:t>
            </a:r>
            <a:endParaRPr lang="en-US" sz="1400"/>
          </a:p>
        </p:txBody>
      </p:sp>
      <p:pic>
        <p:nvPicPr>
          <p:cNvPr id="1094360216" name="Image 1" descr="Electric heater actual use per hour, 24 to 28 November 2014: running through the early hours of 25, 26 and 27 November while expected use stays at about zero"/>
          <p:cNvPicPr>
            <a:picLocks noChangeAspect="1"/>
          </p:cNvPicPr>
          <p:nvPr/>
        </p:nvPicPr>
        <p:blipFill rotWithShape="1">
          <a:blip r:embed="rId4"/>
          <a:srcRect l="0" t="-17" r="0" b="-16"/>
          <a:stretch/>
        </p:blipFill>
        <p:spPr bwMode="auto">
          <a:xfrm>
            <a:off x="812750" y="2920709"/>
            <a:ext cx="10566352" cy="2095426"/>
          </a:xfrm>
          <a:prstGeom prst="rect">
            <a:avLst/>
          </a:prstGeom>
        </p:spPr>
      </p:pic>
      <p:sp>
        <p:nvSpPr>
          <p:cNvPr id="1874224388" name="Text 7"/>
          <p:cNvSpPr/>
          <p:nvPr/>
        </p:nvSpPr>
        <p:spPr bwMode="auto">
          <a:xfrm>
            <a:off x="2463686" y="5193885"/>
            <a:ext cx="2485353"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5558"/>
                </a:solidFill>
                <a:latin typeface="IBM Plex Sans"/>
                <a:ea typeface="IBM Plex Sans"/>
                <a:cs typeface="IBM Plex Sans"/>
              </a:rPr>
              <a:t>Tue 25 Nov, 01:00</a:t>
            </a:r>
            <a:endParaRPr lang="en-US" sz="1200"/>
          </a:p>
        </p:txBody>
      </p:sp>
      <p:sp>
        <p:nvSpPr>
          <p:cNvPr id="776095777" name="Text 8"/>
          <p:cNvSpPr/>
          <p:nvPr/>
        </p:nvSpPr>
        <p:spPr bwMode="auto">
          <a:xfrm>
            <a:off x="5479948" y="5193885"/>
            <a:ext cx="2485353"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5558"/>
                </a:solidFill>
                <a:latin typeface="IBM Plex Sans"/>
                <a:ea typeface="IBM Plex Sans"/>
                <a:cs typeface="IBM Plex Sans"/>
              </a:rPr>
              <a:t>Wed 26 Nov, 01:00</a:t>
            </a:r>
            <a:endParaRPr lang="en-US" sz="1200"/>
          </a:p>
        </p:txBody>
      </p:sp>
      <p:sp>
        <p:nvSpPr>
          <p:cNvPr id="364094767" name="Text 9"/>
          <p:cNvSpPr/>
          <p:nvPr/>
        </p:nvSpPr>
        <p:spPr bwMode="auto">
          <a:xfrm>
            <a:off x="8496210" y="5193885"/>
            <a:ext cx="2485353"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5558"/>
                </a:solidFill>
                <a:latin typeface="IBM Plex Sans"/>
                <a:ea typeface="IBM Plex Sans"/>
                <a:cs typeface="IBM Plex Sans"/>
              </a:rPr>
              <a:t>Thu 27 Nov, 01:00</a:t>
            </a:r>
            <a:endParaRPr lang="en-US" sz="1200"/>
          </a:p>
        </p:txBody>
      </p:sp>
      <p:sp>
        <p:nvSpPr>
          <p:cNvPr id="357050768" name="Text 10"/>
          <p:cNvSpPr/>
          <p:nvPr/>
        </p:nvSpPr>
        <p:spPr bwMode="auto">
          <a:xfrm>
            <a:off x="812750" y="5714988"/>
            <a:ext cx="10883342"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5558"/>
                </a:solidFill>
                <a:latin typeface="IBM Plex Sans"/>
                <a:ea typeface="IBM Plex Sans"/>
                <a:cs typeface="IBM Plex Sans"/>
              </a:rPr>
              <a:t>Replay position: Tue 25 Nov 2014, 07:00, Home A</a:t>
            </a:r>
            <a:endParaRPr lang="en-US" sz="1200"/>
          </a:p>
        </p:txBody>
      </p:sp>
      <p:pic>
        <p:nvPicPr>
          <p:cNvPr id="1267958513" name="Image 2" descr="Every finding in the four homes, laid out as a timeline from 25 Aug 2014 to 31 May 2015"/>
          <p:cNvPicPr>
            <a:picLocks noChangeAspect="1"/>
          </p:cNvPicPr>
          <p:nvPr/>
        </p:nvPicPr>
        <p:blipFill rotWithShape="1">
          <a:blip r:embed="rId5"/>
          <a:srcRect l="0" t="15" r="0" b="15"/>
          <a:stretch/>
        </p:blipFill>
        <p:spPr bwMode="auto">
          <a:xfrm>
            <a:off x="812750" y="6032450"/>
            <a:ext cx="10566352" cy="444491"/>
          </a:xfrm>
          <a:prstGeom prst="rect">
            <a:avLst/>
          </a:prstGeom>
        </p:spPr>
      </p:pic>
      <p:sp>
        <p:nvSpPr>
          <p:cNvPr id="1707445361" name="Shape 11"/>
          <p:cNvSpPr/>
          <p:nvPr/>
        </p:nvSpPr>
        <p:spPr bwMode="auto">
          <a:xfrm>
            <a:off x="4292599" y="5956291"/>
            <a:ext cx="25361" cy="596882"/>
          </a:xfrm>
          <a:prstGeom prst="rect">
            <a:avLst/>
          </a:prstGeom>
          <a:solidFill>
            <a:srgbClr val="2A1013"/>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2A1013"/>
        </a:solidFill>
      </p:bgPr>
    </p:bg>
    <p:spTree>
      <p:nvGrpSpPr>
        <p:cNvPr id="1" name=""/>
        <p:cNvGrpSpPr/>
        <p:nvPr/>
      </p:nvGrpSpPr>
      <p:grpSpPr bwMode="auto">
        <a:xfrm>
          <a:off x="0" y="0"/>
          <a:ext cx="0" cy="0"/>
          <a:chOff x="0" y="0"/>
          <a:chExt cx="0" cy="0"/>
        </a:xfrm>
      </p:grpSpPr>
      <p:sp>
        <p:nvSpPr>
          <p:cNvPr id="854485281" name="Text 0"/>
          <p:cNvSpPr/>
          <p:nvPr>
            <p:ph type="title"/>
          </p:nvPr>
        </p:nvSpPr>
        <p:spPr bwMode="auto">
          <a:xfrm>
            <a:off x="812750" y="812750"/>
            <a:ext cx="10883421" cy="640019"/>
          </a:xfrm>
          <a:prstGeom prst="rect">
            <a:avLst/>
          </a:prstGeom>
          <a:noFill/>
          <a:ln/>
        </p:spPr>
        <p:txBody>
          <a:bodyPr wrap="square" lIns="0" tIns="0" rIns="0" bIns="0" rtlCol="0" anchor="t">
            <a:normAutofit/>
          </a:bodyPr>
          <a:lstStyle/>
          <a:p>
            <a:pPr marL="0" indent="0" algn="l">
              <a:lnSpc>
                <a:spcPts val="4840"/>
              </a:lnSpc>
              <a:buNone/>
              <a:defRPr/>
            </a:pPr>
            <a:r>
              <a:rPr lang="en-US" sz="4400" b="1" i="0">
                <a:solidFill>
                  <a:srgbClr val="F1E6E3"/>
                </a:solidFill>
                <a:latin typeface="Big Shoulders Display"/>
                <a:ea typeface="Big Shoulders Display"/>
                <a:cs typeface="Big Shoulders Display"/>
              </a:rPr>
              <a:t>A slow climb, 473 kWh over 60 days</a:t>
            </a:r>
            <a:endParaRPr lang="en-US" sz="4400"/>
          </a:p>
        </p:txBody>
      </p:sp>
      <p:sp>
        <p:nvSpPr>
          <p:cNvPr id="882835120" name="Text 1"/>
          <p:cNvSpPr/>
          <p:nvPr/>
        </p:nvSpPr>
        <p:spPr bwMode="auto">
          <a:xfrm>
            <a:off x="812750" y="1605121"/>
            <a:ext cx="9810728" cy="736555"/>
          </a:xfrm>
          <a:prstGeom prst="rect">
            <a:avLst/>
          </a:prstGeom>
          <a:noFill/>
          <a:ln/>
        </p:spPr>
        <p:txBody>
          <a:bodyPr wrap="square" lIns="0" tIns="0" rIns="0" bIns="0" rtlCol="0" anchor="t">
            <a:normAutofit/>
          </a:bodyPr>
          <a:lstStyle/>
          <a:p>
            <a:pPr marL="0" indent="0" algn="l">
              <a:lnSpc>
                <a:spcPts val="2800"/>
              </a:lnSpc>
              <a:buNone/>
              <a:defRPr/>
            </a:pPr>
            <a:r>
              <a:rPr lang="en-US" sz="2000">
                <a:solidFill>
                  <a:srgbClr val="CDB9B4"/>
                </a:solidFill>
                <a:latin typeface="IBM Plex Sans"/>
                <a:ea typeface="IBM Plex Sans"/>
                <a:cs typeface="IBM Plex Sans"/>
              </a:rPr>
              <a:t>Home A's whole-house meter used 473 kWh more than forecast between 5 Jan and 5 Mar 2015, and the last week was the worst.</a:t>
            </a:r>
            <a:endParaRPr lang="en-US" sz="2000"/>
          </a:p>
        </p:txBody>
      </p:sp>
      <p:sp>
        <p:nvSpPr>
          <p:cNvPr id="1357818481" name="Shape 2"/>
          <p:cNvSpPr/>
          <p:nvPr/>
        </p:nvSpPr>
        <p:spPr bwMode="auto">
          <a:xfrm>
            <a:off x="812750" y="2529579"/>
            <a:ext cx="177751" cy="177751"/>
          </a:xfrm>
          <a:prstGeom prst="rect">
            <a:avLst/>
          </a:prstGeom>
          <a:solidFill>
            <a:srgbClr val="FF6A3D"/>
          </a:solidFill>
          <a:ln/>
        </p:spPr>
      </p:sp>
      <p:sp>
        <p:nvSpPr>
          <p:cNvPr id="325831305" name="Text 3"/>
          <p:cNvSpPr/>
          <p:nvPr/>
        </p:nvSpPr>
        <p:spPr bwMode="auto">
          <a:xfrm>
            <a:off x="1079339" y="2494031"/>
            <a:ext cx="4232217" cy="274327"/>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CDB9B4"/>
                </a:solidFill>
                <a:latin typeface="IBM Plex Sans"/>
                <a:ea typeface="IBM Plex Sans"/>
                <a:cs typeface="IBM Plex Sans"/>
              </a:rPr>
              <a:t>Extra use above forecast, about one week per bar</a:t>
            </a:r>
            <a:endParaRPr lang="en-US" sz="1400"/>
          </a:p>
        </p:txBody>
      </p:sp>
      <p:pic>
        <p:nvPicPr>
          <p:cNvPr id="230748167" name="Image 0" descr="line"/>
          <p:cNvPicPr>
            <a:picLocks noChangeAspect="1"/>
          </p:cNvPicPr>
          <p:nvPr/>
        </p:nvPicPr>
        <p:blipFill rotWithShape="1">
          <a:blip r:embed="rId3"/>
          <a:srcRect l="-73" t="0" r="-72" b="0"/>
          <a:stretch/>
        </p:blipFill>
        <p:spPr bwMode="auto">
          <a:xfrm>
            <a:off x="5311556" y="2605813"/>
            <a:ext cx="355578" cy="25361"/>
          </a:xfrm>
          <a:prstGeom prst="rect">
            <a:avLst/>
          </a:prstGeom>
        </p:spPr>
      </p:pic>
      <p:sp>
        <p:nvSpPr>
          <p:cNvPr id="1577229270" name="Text 4"/>
          <p:cNvSpPr/>
          <p:nvPr/>
        </p:nvSpPr>
        <p:spPr bwMode="auto">
          <a:xfrm>
            <a:off x="5755972" y="2494031"/>
            <a:ext cx="826125" cy="274327"/>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CDB9B4"/>
                </a:solidFill>
                <a:latin typeface="IBM Plex Sans"/>
                <a:ea typeface="IBM Plex Sans"/>
                <a:cs typeface="IBM Plex Sans"/>
              </a:rPr>
              <a:t>Forecast</a:t>
            </a:r>
            <a:endParaRPr lang="en-US" sz="1400"/>
          </a:p>
        </p:txBody>
      </p:sp>
      <p:pic>
        <p:nvPicPr>
          <p:cNvPr id="1601757552" name="Image 1" descr="Home A whole home: extra kWh above forecast in eight blocks of about a week, 5 January to 5 March 2015, from about 40 kWh in the first block to about 103 kWh in the last"/>
          <p:cNvPicPr>
            <a:picLocks noChangeAspect="1"/>
          </p:cNvPicPr>
          <p:nvPr/>
        </p:nvPicPr>
        <p:blipFill rotWithShape="1">
          <a:blip r:embed="rId4"/>
          <a:srcRect l="0" t="-17" r="0" b="-16"/>
          <a:stretch/>
        </p:blipFill>
        <p:spPr bwMode="auto">
          <a:xfrm>
            <a:off x="812750" y="2920709"/>
            <a:ext cx="10566352" cy="2095426"/>
          </a:xfrm>
          <a:prstGeom prst="rect">
            <a:avLst/>
          </a:prstGeom>
        </p:spPr>
      </p:pic>
      <p:sp>
        <p:nvSpPr>
          <p:cNvPr id="377176499" name="Text 5"/>
          <p:cNvSpPr/>
          <p:nvPr/>
        </p:nvSpPr>
        <p:spPr bwMode="auto">
          <a:xfrm>
            <a:off x="850827" y="4050996"/>
            <a:ext cx="1244564" cy="274327"/>
          </a:xfrm>
          <a:prstGeom prst="rect">
            <a:avLst/>
          </a:prstGeom>
          <a:noFill/>
          <a:ln/>
        </p:spPr>
        <p:txBody>
          <a:bodyPr wrap="square" lIns="0" tIns="0" rIns="0" bIns="0" rtlCol="0" anchor="t">
            <a:normAutofit/>
          </a:bodyPr>
          <a:lstStyle/>
          <a:p>
            <a:pPr marL="0" indent="0" algn="ctr">
              <a:lnSpc>
                <a:spcPts val="1960"/>
              </a:lnSpc>
              <a:buNone/>
              <a:defRPr/>
            </a:pPr>
            <a:r>
              <a:rPr lang="en-US" sz="1400" b="1">
                <a:solidFill>
                  <a:srgbClr val="F1E6E3"/>
                </a:solidFill>
                <a:latin typeface="IBM Plex Sans"/>
                <a:ea typeface="IBM Plex Sans"/>
                <a:cs typeface="IBM Plex Sans"/>
              </a:rPr>
              <a:t>40 kWh</a:t>
            </a:r>
            <a:endParaRPr lang="en-US" sz="1400"/>
          </a:p>
        </p:txBody>
      </p:sp>
      <p:sp>
        <p:nvSpPr>
          <p:cNvPr id="61686070" name="Text 6"/>
          <p:cNvSpPr/>
          <p:nvPr/>
        </p:nvSpPr>
        <p:spPr bwMode="auto">
          <a:xfrm>
            <a:off x="10096385" y="2990524"/>
            <a:ext cx="1244564" cy="274327"/>
          </a:xfrm>
          <a:prstGeom prst="rect">
            <a:avLst/>
          </a:prstGeom>
          <a:noFill/>
          <a:ln/>
        </p:spPr>
        <p:txBody>
          <a:bodyPr wrap="square" lIns="0" tIns="0" rIns="0" bIns="0" rtlCol="0" anchor="t">
            <a:normAutofit/>
          </a:bodyPr>
          <a:lstStyle/>
          <a:p>
            <a:pPr marL="0" indent="0" algn="ctr">
              <a:lnSpc>
                <a:spcPts val="1960"/>
              </a:lnSpc>
              <a:buNone/>
              <a:defRPr/>
            </a:pPr>
            <a:r>
              <a:rPr lang="en-US" sz="1400" b="1">
                <a:solidFill>
                  <a:srgbClr val="F1E6E3"/>
                </a:solidFill>
                <a:latin typeface="IBM Plex Sans"/>
                <a:ea typeface="IBM Plex Sans"/>
                <a:cs typeface="IBM Plex Sans"/>
              </a:rPr>
              <a:t>103 kWh</a:t>
            </a:r>
            <a:endParaRPr lang="en-US" sz="1400"/>
          </a:p>
        </p:txBody>
      </p:sp>
      <p:sp>
        <p:nvSpPr>
          <p:cNvPr id="1768490197" name="Text 7"/>
          <p:cNvSpPr/>
          <p:nvPr/>
        </p:nvSpPr>
        <p:spPr bwMode="auto">
          <a:xfrm>
            <a:off x="850827" y="5193888"/>
            <a:ext cx="1244564" cy="238702"/>
          </a:xfrm>
          <a:prstGeom prst="rect">
            <a:avLst/>
          </a:prstGeom>
          <a:noFill/>
          <a:ln/>
        </p:spPr>
        <p:txBody>
          <a:bodyPr wrap="square" lIns="0" tIns="0" rIns="0" bIns="0" rtlCol="0" anchor="t">
            <a:normAutofit/>
          </a:bodyPr>
          <a:lstStyle/>
          <a:p>
            <a:pPr marL="0" indent="0" algn="ctr">
              <a:lnSpc>
                <a:spcPts val="1680"/>
              </a:lnSpc>
              <a:buNone/>
              <a:defRPr/>
            </a:pPr>
            <a:r>
              <a:rPr lang="en-US" sz="1200">
                <a:solidFill>
                  <a:srgbClr val="CDB9B4"/>
                </a:solidFill>
                <a:latin typeface="IBM Plex Sans"/>
                <a:ea typeface="IBM Plex Sans"/>
                <a:cs typeface="IBM Plex Sans"/>
              </a:rPr>
              <a:t>5 Jan</a:t>
            </a:r>
            <a:endParaRPr lang="en-US" sz="1200"/>
          </a:p>
        </p:txBody>
      </p:sp>
      <p:sp>
        <p:nvSpPr>
          <p:cNvPr id="637561870" name="Text 8"/>
          <p:cNvSpPr/>
          <p:nvPr/>
        </p:nvSpPr>
        <p:spPr bwMode="auto">
          <a:xfrm>
            <a:off x="10096385" y="5193888"/>
            <a:ext cx="1244564" cy="238702"/>
          </a:xfrm>
          <a:prstGeom prst="rect">
            <a:avLst/>
          </a:prstGeom>
          <a:noFill/>
          <a:ln/>
        </p:spPr>
        <p:txBody>
          <a:bodyPr wrap="square" lIns="0" tIns="0" rIns="0" bIns="0" rtlCol="0" anchor="t">
            <a:normAutofit/>
          </a:bodyPr>
          <a:lstStyle/>
          <a:p>
            <a:pPr marL="0" indent="0" algn="ctr">
              <a:lnSpc>
                <a:spcPts val="1680"/>
              </a:lnSpc>
              <a:buNone/>
              <a:defRPr/>
            </a:pPr>
            <a:r>
              <a:rPr lang="en-US" sz="1200">
                <a:solidFill>
                  <a:srgbClr val="CDB9B4"/>
                </a:solidFill>
                <a:latin typeface="IBM Plex Sans"/>
                <a:ea typeface="IBM Plex Sans"/>
                <a:cs typeface="IBM Plex Sans"/>
              </a:rPr>
              <a:t>5 Mar</a:t>
            </a:r>
            <a:endParaRPr lang="en-US" sz="1200"/>
          </a:p>
        </p:txBody>
      </p:sp>
      <p:sp>
        <p:nvSpPr>
          <p:cNvPr id="1417478414" name="Text 9"/>
          <p:cNvSpPr/>
          <p:nvPr/>
        </p:nvSpPr>
        <p:spPr bwMode="auto">
          <a:xfrm>
            <a:off x="812750" y="5714988"/>
            <a:ext cx="10883342"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CDB9B4"/>
                </a:solidFill>
                <a:latin typeface="IBM Plex Sans"/>
                <a:ea typeface="IBM Plex Sans"/>
                <a:cs typeface="IBM Plex Sans"/>
              </a:rPr>
              <a:t>Replay window: 5 Jan to 5 Mar 2015, Home A</a:t>
            </a:r>
            <a:endParaRPr lang="en-US" sz="1200"/>
          </a:p>
        </p:txBody>
      </p:sp>
      <p:pic>
        <p:nvPicPr>
          <p:cNvPr id="332109776" name="Image 2" descr="Every finding in the four homes, laid out as a timeline from 25 Aug 2014 to 31 May 2015"/>
          <p:cNvPicPr>
            <a:picLocks noChangeAspect="1"/>
          </p:cNvPicPr>
          <p:nvPr/>
        </p:nvPicPr>
        <p:blipFill rotWithShape="1">
          <a:blip r:embed="rId5"/>
          <a:srcRect l="0" t="15" r="0" b="15"/>
          <a:stretch/>
        </p:blipFill>
        <p:spPr bwMode="auto">
          <a:xfrm>
            <a:off x="812750" y="6032450"/>
            <a:ext cx="10566352" cy="444491"/>
          </a:xfrm>
          <a:prstGeom prst="rect">
            <a:avLst/>
          </a:prstGeom>
        </p:spPr>
      </p:pic>
      <p:sp>
        <p:nvSpPr>
          <p:cNvPr id="942331073" name="Shape 10"/>
          <p:cNvSpPr/>
          <p:nvPr/>
        </p:nvSpPr>
        <p:spPr bwMode="auto">
          <a:xfrm>
            <a:off x="5867388" y="5962644"/>
            <a:ext cx="2247874" cy="584182"/>
          </a:xfrm>
          <a:prstGeom prst="rect">
            <a:avLst/>
          </a:prstGeom>
          <a:solidFill>
            <a:srgbClr val="F1E6E3">
              <a:alpha val="22000"/>
            </a:srgbClr>
          </a:solidFill>
          <a:ln w="12700">
            <a:solidFill>
              <a:srgbClr val="F1E6E3"/>
            </a:solidFill>
            <a:prstDash val="soli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E9EEEC"/>
        </a:solidFill>
      </p:bgPr>
    </p:bg>
    <p:spTree>
      <p:nvGrpSpPr>
        <p:cNvPr id="1" name=""/>
        <p:cNvGrpSpPr/>
        <p:nvPr/>
      </p:nvGrpSpPr>
      <p:grpSpPr bwMode="auto">
        <a:xfrm>
          <a:off x="0" y="0"/>
          <a:ext cx="0" cy="0"/>
          <a:chOff x="0" y="0"/>
          <a:chExt cx="0" cy="0"/>
        </a:xfrm>
      </p:grpSpPr>
      <p:sp>
        <p:nvSpPr>
          <p:cNvPr id="1547702808" name="Text 0"/>
          <p:cNvSpPr/>
          <p:nvPr>
            <p:ph type="title"/>
          </p:nvPr>
        </p:nvSpPr>
        <p:spPr bwMode="auto">
          <a:xfrm>
            <a:off x="812750" y="812750"/>
            <a:ext cx="4185895" cy="1198785"/>
          </a:xfrm>
          <a:prstGeom prst="rect">
            <a:avLst/>
          </a:prstGeom>
          <a:noFill/>
          <a:ln/>
        </p:spPr>
        <p:txBody>
          <a:bodyPr wrap="square" lIns="0" tIns="0" rIns="0" bIns="0" rtlCol="0" anchor="t">
            <a:normAutofit/>
          </a:bodyPr>
          <a:lstStyle/>
          <a:p>
            <a:pPr marL="0" indent="0" algn="l">
              <a:lnSpc>
                <a:spcPts val="4620"/>
              </a:lnSpc>
              <a:buNone/>
              <a:defRPr/>
            </a:pPr>
            <a:r>
              <a:rPr lang="en-US" sz="4400" b="1" i="0">
                <a:solidFill>
                  <a:srgbClr val="2A1013"/>
                </a:solidFill>
                <a:latin typeface="Big Shoulders Display"/>
                <a:ea typeface="Big Shoulders Display"/>
                <a:cs typeface="Big Shoulders Display"/>
              </a:rPr>
              <a:t>One button replays the whole story</a:t>
            </a:r>
            <a:endParaRPr lang="en-US" sz="4400"/>
          </a:p>
        </p:txBody>
      </p:sp>
      <p:sp>
        <p:nvSpPr>
          <p:cNvPr id="822601914" name="Text 1"/>
          <p:cNvSpPr/>
          <p:nvPr/>
        </p:nvSpPr>
        <p:spPr bwMode="auto">
          <a:xfrm>
            <a:off x="812749" y="2784633"/>
            <a:ext cx="4185895" cy="736555"/>
          </a:xfrm>
          <a:prstGeom prst="rect">
            <a:avLst/>
          </a:prstGeom>
          <a:noFill/>
          <a:ln/>
        </p:spPr>
        <p:txBody>
          <a:bodyPr wrap="square" lIns="0" tIns="0" rIns="0" bIns="0" rtlCol="0" anchor="t">
            <a:normAutofit/>
          </a:bodyPr>
          <a:lstStyle/>
          <a:p>
            <a:pPr marL="0" indent="0" algn="l">
              <a:lnSpc>
                <a:spcPts val="2800"/>
              </a:lnSpc>
              <a:buNone/>
              <a:defRPr/>
            </a:pPr>
            <a:r>
              <a:rPr lang="en-US" sz="2000">
                <a:solidFill>
                  <a:srgbClr val="4F3A3D"/>
                </a:solidFill>
                <a:latin typeface="IBM Plex Sans"/>
                <a:ea typeface="IBM Plex Sans"/>
                <a:cs typeface="IBM Plex Sans"/>
              </a:rPr>
              <a:t>Press Replay recap and the app walks through all nine months.</a:t>
            </a:r>
            <a:endParaRPr lang="en-US" sz="2000"/>
          </a:p>
        </p:txBody>
      </p:sp>
      <p:sp>
        <p:nvSpPr>
          <p:cNvPr id="1106762142" name="Shape 2"/>
          <p:cNvSpPr/>
          <p:nvPr/>
        </p:nvSpPr>
        <p:spPr bwMode="auto">
          <a:xfrm>
            <a:off x="5486288" y="819100"/>
            <a:ext cx="5892738" cy="0"/>
          </a:xfrm>
          <a:prstGeom prst="line">
            <a:avLst/>
          </a:prstGeom>
          <a:noFill/>
          <a:ln w="12700">
            <a:solidFill>
              <a:srgbClr val="2A1013"/>
            </a:solidFill>
            <a:prstDash val="solid"/>
          </a:ln>
        </p:spPr>
      </p:sp>
      <p:sp>
        <p:nvSpPr>
          <p:cNvPr id="1199024351" name="Text 3"/>
          <p:cNvSpPr/>
          <p:nvPr/>
        </p:nvSpPr>
        <p:spPr bwMode="auto">
          <a:xfrm>
            <a:off x="5486288" y="1000162"/>
            <a:ext cx="6069521" cy="274327"/>
          </a:xfrm>
          <a:prstGeom prst="rect">
            <a:avLst/>
          </a:prstGeom>
          <a:noFill/>
          <a:ln/>
        </p:spPr>
        <p:txBody>
          <a:bodyPr wrap="square" lIns="0" tIns="0" rIns="0" bIns="0" rtlCol="0" anchor="t">
            <a:normAutofit/>
          </a:bodyPr>
          <a:lstStyle/>
          <a:p>
            <a:pPr marL="0" indent="0" algn="l">
              <a:lnSpc>
                <a:spcPts val="1960"/>
              </a:lnSpc>
              <a:buNone/>
              <a:defRPr/>
            </a:pPr>
            <a:r>
              <a:rPr lang="en-US" sz="1400" b="1">
                <a:solidFill>
                  <a:srgbClr val="6B5558"/>
                </a:solidFill>
                <a:latin typeface="IBM Plex Sans"/>
                <a:ea typeface="IBM Plex Sans"/>
                <a:cs typeface="IBM Plex Sans"/>
              </a:rPr>
              <a:t>Replay</a:t>
            </a:r>
            <a:endParaRPr lang="en-US" sz="1400"/>
          </a:p>
        </p:txBody>
      </p:sp>
      <p:sp>
        <p:nvSpPr>
          <p:cNvPr id="1814190201" name="Text 4"/>
          <p:cNvSpPr/>
          <p:nvPr/>
        </p:nvSpPr>
        <p:spPr bwMode="auto">
          <a:xfrm>
            <a:off x="5486288" y="1299887"/>
            <a:ext cx="6069521" cy="711044"/>
          </a:xfrm>
          <a:prstGeom prst="rect">
            <a:avLst/>
          </a:prstGeom>
          <a:noFill/>
          <a:ln/>
        </p:spPr>
        <p:txBody>
          <a:bodyPr wrap="square" lIns="0" tIns="0" rIns="0" bIns="0" rtlCol="0" anchor="t">
            <a:normAutofit/>
          </a:bodyPr>
          <a:lstStyle/>
          <a:p>
            <a:pPr marL="0" indent="0" algn="l">
              <a:lnSpc>
                <a:spcPts val="2700"/>
              </a:lnSpc>
              <a:buNone/>
              <a:defRPr/>
            </a:pPr>
            <a:r>
              <a:rPr lang="en-US" sz="2000">
                <a:solidFill>
                  <a:srgbClr val="2A1013"/>
                </a:solidFill>
                <a:latin typeface="IBM Plex Sans"/>
                <a:ea typeface="IBM Plex Sans"/>
                <a:cs typeface="IBM Plex Sans"/>
              </a:rPr>
              <a:t>Your homes' 2014–15 in energy: 4 homes, 16 meters, 25 Aug 2014 to 31 May 2015.</a:t>
            </a:r>
            <a:endParaRPr lang="en-US" sz="2000"/>
          </a:p>
        </p:txBody>
      </p:sp>
      <p:sp>
        <p:nvSpPr>
          <p:cNvPr id="596948364" name="Shape 5"/>
          <p:cNvSpPr/>
          <p:nvPr/>
        </p:nvSpPr>
        <p:spPr bwMode="auto">
          <a:xfrm>
            <a:off x="5486288" y="2169632"/>
            <a:ext cx="5892738" cy="0"/>
          </a:xfrm>
          <a:prstGeom prst="line">
            <a:avLst/>
          </a:prstGeom>
          <a:noFill/>
          <a:ln w="12700">
            <a:solidFill>
              <a:srgbClr val="2A1013"/>
            </a:solidFill>
            <a:prstDash val="solid"/>
          </a:ln>
        </p:spPr>
      </p:sp>
      <p:sp>
        <p:nvSpPr>
          <p:cNvPr id="1808346036" name="Text 6"/>
          <p:cNvSpPr/>
          <p:nvPr/>
        </p:nvSpPr>
        <p:spPr bwMode="auto">
          <a:xfrm>
            <a:off x="5486288" y="2350694"/>
            <a:ext cx="6069521" cy="274327"/>
          </a:xfrm>
          <a:prstGeom prst="rect">
            <a:avLst/>
          </a:prstGeom>
          <a:noFill/>
          <a:ln/>
        </p:spPr>
        <p:txBody>
          <a:bodyPr wrap="square" lIns="0" tIns="0" rIns="0" bIns="0" rtlCol="0" anchor="t">
            <a:normAutofit/>
          </a:bodyPr>
          <a:lstStyle/>
          <a:p>
            <a:pPr marL="0" indent="0" algn="l">
              <a:lnSpc>
                <a:spcPts val="1960"/>
              </a:lnSpc>
              <a:buNone/>
              <a:defRPr/>
            </a:pPr>
            <a:r>
              <a:rPr lang="en-US" sz="1400" b="1">
                <a:solidFill>
                  <a:srgbClr val="6B5558"/>
                </a:solidFill>
                <a:latin typeface="IBM Plex Sans"/>
                <a:ea typeface="IBM Plex Sans"/>
                <a:cs typeface="IBM Plex Sans"/>
              </a:rPr>
              <a:t>Spotted</a:t>
            </a:r>
            <a:endParaRPr lang="en-US" sz="1400"/>
          </a:p>
        </p:txBody>
      </p:sp>
      <p:sp>
        <p:nvSpPr>
          <p:cNvPr id="989504167" name="Text 7"/>
          <p:cNvSpPr/>
          <p:nvPr/>
        </p:nvSpPr>
        <p:spPr bwMode="auto">
          <a:xfrm>
            <a:off x="5486288" y="2650418"/>
            <a:ext cx="6069521" cy="368222"/>
          </a:xfrm>
          <a:prstGeom prst="rect">
            <a:avLst/>
          </a:prstGeom>
          <a:noFill/>
          <a:ln/>
        </p:spPr>
        <p:txBody>
          <a:bodyPr wrap="square" lIns="0" tIns="0" rIns="0" bIns="0" rtlCol="0" anchor="t">
            <a:normAutofit/>
          </a:bodyPr>
          <a:lstStyle/>
          <a:p>
            <a:pPr marL="0" indent="0" algn="l">
              <a:lnSpc>
                <a:spcPts val="2700"/>
              </a:lnSpc>
              <a:buNone/>
              <a:defRPr/>
            </a:pPr>
            <a:r>
              <a:rPr lang="en-US" sz="2000">
                <a:solidFill>
                  <a:srgbClr val="2A1013"/>
                </a:solidFill>
                <a:latin typeface="IBM Plex Sans"/>
                <a:ea typeface="IBM Plex Sans"/>
                <a:cs typeface="IBM Plex Sans"/>
              </a:rPr>
              <a:t>About one finding every 6 days in each home.</a:t>
            </a:r>
            <a:endParaRPr lang="en-US" sz="2000"/>
          </a:p>
        </p:txBody>
      </p:sp>
      <p:sp>
        <p:nvSpPr>
          <p:cNvPr id="1924817797" name="Shape 8"/>
          <p:cNvSpPr/>
          <p:nvPr/>
        </p:nvSpPr>
        <p:spPr bwMode="auto">
          <a:xfrm>
            <a:off x="5486288" y="3177341"/>
            <a:ext cx="5892738" cy="0"/>
          </a:xfrm>
          <a:prstGeom prst="line">
            <a:avLst/>
          </a:prstGeom>
          <a:noFill/>
          <a:ln w="12700">
            <a:solidFill>
              <a:srgbClr val="2A1013"/>
            </a:solidFill>
            <a:prstDash val="solid"/>
          </a:ln>
        </p:spPr>
      </p:sp>
      <p:sp>
        <p:nvSpPr>
          <p:cNvPr id="256489877" name="Shape 9"/>
          <p:cNvSpPr/>
          <p:nvPr/>
        </p:nvSpPr>
        <p:spPr bwMode="auto">
          <a:xfrm>
            <a:off x="5486288" y="4524835"/>
            <a:ext cx="5892738" cy="0"/>
          </a:xfrm>
          <a:prstGeom prst="line">
            <a:avLst/>
          </a:prstGeom>
          <a:noFill/>
          <a:ln w="12700">
            <a:solidFill>
              <a:srgbClr val="2A1013"/>
            </a:solidFill>
            <a:prstDash val="solid"/>
          </a:ln>
        </p:spPr>
      </p:sp>
      <p:sp>
        <p:nvSpPr>
          <p:cNvPr id="1019479970" name="Text 10"/>
          <p:cNvSpPr/>
          <p:nvPr/>
        </p:nvSpPr>
        <p:spPr bwMode="auto">
          <a:xfrm>
            <a:off x="5486288" y="3358403"/>
            <a:ext cx="6069521" cy="274327"/>
          </a:xfrm>
          <a:prstGeom prst="rect">
            <a:avLst/>
          </a:prstGeom>
          <a:noFill/>
          <a:ln/>
        </p:spPr>
        <p:txBody>
          <a:bodyPr wrap="square" lIns="0" tIns="0" rIns="0" bIns="0" rtlCol="0" anchor="t">
            <a:normAutofit/>
          </a:bodyPr>
          <a:lstStyle/>
          <a:p>
            <a:pPr marL="0" indent="0" algn="l">
              <a:lnSpc>
                <a:spcPts val="1960"/>
              </a:lnSpc>
              <a:buNone/>
              <a:defRPr/>
            </a:pPr>
            <a:r>
              <a:rPr lang="en-US" sz="1400" b="1">
                <a:solidFill>
                  <a:srgbClr val="6B5558"/>
                </a:solidFill>
                <a:latin typeface="IBM Plex Sans"/>
                <a:ea typeface="IBM Plex Sans"/>
                <a:cs typeface="IBM Plex Sans"/>
              </a:rPr>
              <a:t>Your turn</a:t>
            </a:r>
            <a:endParaRPr lang="en-US" sz="1400"/>
          </a:p>
        </p:txBody>
      </p:sp>
      <p:sp>
        <p:nvSpPr>
          <p:cNvPr id="1651731151" name="Text 11"/>
          <p:cNvSpPr/>
          <p:nvPr/>
        </p:nvSpPr>
        <p:spPr bwMode="auto">
          <a:xfrm>
            <a:off x="5486288" y="3658127"/>
            <a:ext cx="6069521" cy="711044"/>
          </a:xfrm>
          <a:prstGeom prst="rect">
            <a:avLst/>
          </a:prstGeom>
          <a:noFill/>
          <a:ln/>
        </p:spPr>
        <p:txBody>
          <a:bodyPr wrap="square" lIns="0" tIns="0" rIns="0" bIns="0" rtlCol="0" anchor="t">
            <a:normAutofit/>
          </a:bodyPr>
          <a:lstStyle/>
          <a:p>
            <a:pPr marL="0" indent="0" algn="l">
              <a:lnSpc>
                <a:spcPts val="2700"/>
              </a:lnSpc>
              <a:buNone/>
              <a:defRPr/>
            </a:pPr>
            <a:r>
              <a:rPr lang="en-US" sz="2000">
                <a:solidFill>
                  <a:srgbClr val="2A1013"/>
                </a:solidFill>
                <a:latin typeface="IBM Plex Sans"/>
                <a:ea typeface="IBM Plex Sans"/>
                <a:cs typeface="IBM Plex Sans"/>
              </a:rPr>
              <a:t>Open any home to see what was found, what it cost and what to check.</a:t>
            </a:r>
            <a:endParaRPr lang="en-US" sz="2000"/>
          </a:p>
        </p:txBody>
      </p:sp>
      <p:sp>
        <p:nvSpPr>
          <p:cNvPr id="712038648" name="Text 12"/>
          <p:cNvSpPr/>
          <p:nvPr/>
        </p:nvSpPr>
        <p:spPr bwMode="auto">
          <a:xfrm>
            <a:off x="812750" y="5714988"/>
            <a:ext cx="10883342"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5558"/>
                </a:solidFill>
                <a:latin typeface="IBM Plex Sans"/>
                <a:ea typeface="IBM Plex Sans"/>
                <a:cs typeface="IBM Plex Sans"/>
              </a:rPr>
              <a:t>Replay position: Sun 31 May 2015, 00:00</a:t>
            </a:r>
            <a:endParaRPr lang="en-US" sz="1200"/>
          </a:p>
        </p:txBody>
      </p:sp>
      <p:pic>
        <p:nvPicPr>
          <p:cNvPr id="593962165" name="Image 0" descr="Every finding in the four homes, laid out as a timeline from 25 Aug 2014 to 31 May 2015"/>
          <p:cNvPicPr>
            <a:picLocks noChangeAspect="1"/>
          </p:cNvPicPr>
          <p:nvPr/>
        </p:nvPicPr>
        <p:blipFill rotWithShape="1">
          <a:blip r:embed="rId3"/>
          <a:srcRect l="0" t="15" r="0" b="15"/>
          <a:stretch/>
        </p:blipFill>
        <p:spPr bwMode="auto">
          <a:xfrm>
            <a:off x="812750" y="6032447"/>
            <a:ext cx="10566352" cy="444491"/>
          </a:xfrm>
          <a:prstGeom prst="rect">
            <a:avLst/>
          </a:prstGeom>
        </p:spPr>
      </p:pic>
      <p:sp>
        <p:nvSpPr>
          <p:cNvPr id="1380112764" name="Shape 13"/>
          <p:cNvSpPr/>
          <p:nvPr/>
        </p:nvSpPr>
        <p:spPr bwMode="auto">
          <a:xfrm>
            <a:off x="11353741" y="5956291"/>
            <a:ext cx="25361" cy="596882"/>
          </a:xfrm>
          <a:prstGeom prst="rect">
            <a:avLst/>
          </a:prstGeom>
          <a:solidFill>
            <a:srgbClr val="2A1013"/>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2A1013"/>
        </a:solidFill>
      </p:bgPr>
    </p:bg>
    <p:spTree>
      <p:nvGrpSpPr>
        <p:cNvPr id="1" name=""/>
        <p:cNvGrpSpPr/>
        <p:nvPr/>
      </p:nvGrpSpPr>
      <p:grpSpPr bwMode="auto">
        <a:xfrm>
          <a:off x="0" y="0"/>
          <a:ext cx="0" cy="0"/>
          <a:chOff x="0" y="0"/>
          <a:chExt cx="0" cy="0"/>
        </a:xfrm>
      </p:grpSpPr>
      <p:sp>
        <p:nvSpPr>
          <p:cNvPr id="1665471140" name="Text 0"/>
          <p:cNvSpPr/>
          <p:nvPr>
            <p:ph type="title"/>
          </p:nvPr>
        </p:nvSpPr>
        <p:spPr bwMode="auto">
          <a:xfrm>
            <a:off x="812750" y="812750"/>
            <a:ext cx="10883421" cy="640019"/>
          </a:xfrm>
          <a:prstGeom prst="rect">
            <a:avLst/>
          </a:prstGeom>
          <a:noFill/>
          <a:ln/>
        </p:spPr>
        <p:txBody>
          <a:bodyPr wrap="square" lIns="0" tIns="0" rIns="0" bIns="0" rtlCol="0" anchor="t">
            <a:normAutofit/>
          </a:bodyPr>
          <a:lstStyle/>
          <a:p>
            <a:pPr marL="0" indent="0" algn="l">
              <a:lnSpc>
                <a:spcPts val="4840"/>
              </a:lnSpc>
              <a:buNone/>
              <a:defRPr/>
            </a:pPr>
            <a:r>
              <a:rPr lang="en-US" sz="4400" b="1" i="0">
                <a:solidFill>
                  <a:srgbClr val="F1E6E3"/>
                </a:solidFill>
                <a:latin typeface="Big Shoulders Display"/>
                <a:ea typeface="Big Shoulders Display"/>
                <a:cs typeface="Big Shoulders Display"/>
              </a:rPr>
              <a:t>How a finding is made</a:t>
            </a:r>
            <a:endParaRPr lang="en-US" sz="4400"/>
          </a:p>
        </p:txBody>
      </p:sp>
      <p:sp>
        <p:nvSpPr>
          <p:cNvPr id="1951318645" name="Shape 1"/>
          <p:cNvSpPr/>
          <p:nvPr/>
        </p:nvSpPr>
        <p:spPr bwMode="auto">
          <a:xfrm>
            <a:off x="812750" y="1795649"/>
            <a:ext cx="2908253" cy="0"/>
          </a:xfrm>
          <a:prstGeom prst="line">
            <a:avLst/>
          </a:prstGeom>
          <a:noFill/>
          <a:ln w="25400">
            <a:solidFill>
              <a:srgbClr val="FF6A3D"/>
            </a:solidFill>
            <a:prstDash val="solid"/>
          </a:ln>
        </p:spPr>
      </p:sp>
      <p:sp>
        <p:nvSpPr>
          <p:cNvPr id="610057905" name="Text 2"/>
          <p:cNvSpPr/>
          <p:nvPr/>
        </p:nvSpPr>
        <p:spPr bwMode="auto">
          <a:xfrm>
            <a:off x="812750" y="1959490"/>
            <a:ext cx="2995500" cy="330181"/>
          </a:xfrm>
          <a:prstGeom prst="rect">
            <a:avLst/>
          </a:prstGeom>
          <a:noFill/>
          <a:ln/>
        </p:spPr>
        <p:txBody>
          <a:bodyPr wrap="square" lIns="0" tIns="0" rIns="0" bIns="0" rtlCol="0" anchor="t">
            <a:normAutofit/>
          </a:bodyPr>
          <a:lstStyle/>
          <a:p>
            <a:pPr marL="0" indent="0" algn="l">
              <a:lnSpc>
                <a:spcPts val="2400"/>
              </a:lnSpc>
              <a:buNone/>
              <a:defRPr/>
            </a:pPr>
            <a:r>
              <a:rPr lang="en-US" sz="2000" b="1">
                <a:solidFill>
                  <a:srgbClr val="F1E6E3"/>
                </a:solidFill>
                <a:latin typeface="IBM Plex Sans"/>
                <a:ea typeface="IBM Plex Sans"/>
                <a:cs typeface="IBM Plex Sans"/>
              </a:rPr>
              <a:t>Forecast</a:t>
            </a:r>
            <a:endParaRPr lang="en-US" sz="2000"/>
          </a:p>
        </p:txBody>
      </p:sp>
      <p:sp>
        <p:nvSpPr>
          <p:cNvPr id="820314534" name="Text 3"/>
          <p:cNvSpPr/>
          <p:nvPr/>
        </p:nvSpPr>
        <p:spPr bwMode="auto">
          <a:xfrm>
            <a:off x="812750" y="2365865"/>
            <a:ext cx="2995500" cy="772182"/>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CDB9B4"/>
                </a:solidFill>
                <a:latin typeface="IBM Plex Sans"/>
                <a:ea typeface="IBM Plex Sans"/>
                <a:cs typeface="IBM Plex Sans"/>
              </a:rPr>
              <a:t>A LightGBM model predicts each meter's use a day ahead, from readings at least 24 hours old.</a:t>
            </a:r>
            <a:endParaRPr lang="en-US" sz="1400"/>
          </a:p>
        </p:txBody>
      </p:sp>
      <p:pic>
        <p:nvPicPr>
          <p:cNvPr id="719264332" name="Image 0" descr="arrow-right"/>
          <p:cNvPicPr>
            <a:picLocks noChangeAspect="1"/>
          </p:cNvPicPr>
          <p:nvPr/>
        </p:nvPicPr>
        <p:blipFill rotWithShape="1">
          <a:blip r:embed="rId3"/>
          <a:srcRect l="0" t="0" r="0" b="0"/>
          <a:stretch/>
        </p:blipFill>
        <p:spPr bwMode="auto">
          <a:xfrm>
            <a:off x="3924190" y="2011496"/>
            <a:ext cx="507969" cy="253984"/>
          </a:xfrm>
          <a:prstGeom prst="rect">
            <a:avLst/>
          </a:prstGeom>
        </p:spPr>
      </p:pic>
      <p:sp>
        <p:nvSpPr>
          <p:cNvPr id="764887896" name="Shape 4"/>
          <p:cNvSpPr/>
          <p:nvPr/>
        </p:nvSpPr>
        <p:spPr bwMode="auto">
          <a:xfrm>
            <a:off x="4635346" y="1795649"/>
            <a:ext cx="2908253" cy="0"/>
          </a:xfrm>
          <a:prstGeom prst="line">
            <a:avLst/>
          </a:prstGeom>
          <a:noFill/>
          <a:ln w="25400">
            <a:solidFill>
              <a:srgbClr val="FF6A3D"/>
            </a:solidFill>
            <a:prstDash val="solid"/>
          </a:ln>
        </p:spPr>
      </p:sp>
      <p:sp>
        <p:nvSpPr>
          <p:cNvPr id="373937479" name="Text 5"/>
          <p:cNvSpPr/>
          <p:nvPr/>
        </p:nvSpPr>
        <p:spPr bwMode="auto">
          <a:xfrm>
            <a:off x="4635346" y="1959490"/>
            <a:ext cx="2995500" cy="330181"/>
          </a:xfrm>
          <a:prstGeom prst="rect">
            <a:avLst/>
          </a:prstGeom>
          <a:noFill/>
          <a:ln/>
        </p:spPr>
        <p:txBody>
          <a:bodyPr wrap="square" lIns="0" tIns="0" rIns="0" bIns="0" rtlCol="0" anchor="t">
            <a:normAutofit/>
          </a:bodyPr>
          <a:lstStyle/>
          <a:p>
            <a:pPr marL="0" indent="0" algn="l">
              <a:lnSpc>
                <a:spcPts val="2400"/>
              </a:lnSpc>
              <a:buNone/>
              <a:defRPr/>
            </a:pPr>
            <a:r>
              <a:rPr lang="en-US" sz="2000" b="1">
                <a:solidFill>
                  <a:srgbClr val="F1E6E3"/>
                </a:solidFill>
                <a:latin typeface="IBM Plex Sans"/>
                <a:ea typeface="IBM Plex Sans"/>
                <a:cs typeface="IBM Plex Sans"/>
              </a:rPr>
              <a:t>Compare</a:t>
            </a:r>
            <a:endParaRPr lang="en-US" sz="2000"/>
          </a:p>
        </p:txBody>
      </p:sp>
      <p:sp>
        <p:nvSpPr>
          <p:cNvPr id="1599751012" name="Text 6"/>
          <p:cNvSpPr/>
          <p:nvPr/>
        </p:nvSpPr>
        <p:spPr bwMode="auto">
          <a:xfrm>
            <a:off x="4635346" y="2365865"/>
            <a:ext cx="2995500" cy="772182"/>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CDB9B4"/>
                </a:solidFill>
                <a:latin typeface="IBM Plex Sans"/>
                <a:ea typeface="IBM Plex Sans"/>
                <a:cs typeface="IBM Plex Sans"/>
              </a:rPr>
              <a:t>Actual minus forecast, scored against how noisy that meter usually is. The gap has to last, not just blip.</a:t>
            </a:r>
            <a:endParaRPr lang="en-US" sz="1400"/>
          </a:p>
        </p:txBody>
      </p:sp>
      <p:pic>
        <p:nvPicPr>
          <p:cNvPr id="764743089" name="Image 1" descr="arrow-right"/>
          <p:cNvPicPr>
            <a:picLocks noChangeAspect="1"/>
          </p:cNvPicPr>
          <p:nvPr/>
        </p:nvPicPr>
        <p:blipFill rotWithShape="1">
          <a:blip r:embed="rId4"/>
          <a:srcRect l="0" t="0" r="0" b="0"/>
          <a:stretch/>
        </p:blipFill>
        <p:spPr bwMode="auto">
          <a:xfrm>
            <a:off x="7746786" y="2011496"/>
            <a:ext cx="507969" cy="253984"/>
          </a:xfrm>
          <a:prstGeom prst="rect">
            <a:avLst/>
          </a:prstGeom>
        </p:spPr>
      </p:pic>
      <p:sp>
        <p:nvSpPr>
          <p:cNvPr id="2011684418" name="Shape 7"/>
          <p:cNvSpPr/>
          <p:nvPr/>
        </p:nvSpPr>
        <p:spPr bwMode="auto">
          <a:xfrm>
            <a:off x="8457943" y="1795649"/>
            <a:ext cx="2908253" cy="0"/>
          </a:xfrm>
          <a:prstGeom prst="line">
            <a:avLst/>
          </a:prstGeom>
          <a:noFill/>
          <a:ln w="25400">
            <a:solidFill>
              <a:srgbClr val="FF6A3D"/>
            </a:solidFill>
            <a:prstDash val="solid"/>
          </a:ln>
        </p:spPr>
      </p:sp>
      <p:sp>
        <p:nvSpPr>
          <p:cNvPr id="752001614" name="Text 8"/>
          <p:cNvSpPr/>
          <p:nvPr/>
        </p:nvSpPr>
        <p:spPr bwMode="auto">
          <a:xfrm>
            <a:off x="8457943" y="1959490"/>
            <a:ext cx="2995500" cy="330181"/>
          </a:xfrm>
          <a:prstGeom prst="rect">
            <a:avLst/>
          </a:prstGeom>
          <a:noFill/>
          <a:ln/>
        </p:spPr>
        <p:txBody>
          <a:bodyPr wrap="square" lIns="0" tIns="0" rIns="0" bIns="0" rtlCol="0" anchor="t">
            <a:normAutofit/>
          </a:bodyPr>
          <a:lstStyle/>
          <a:p>
            <a:pPr marL="0" indent="0" algn="l">
              <a:lnSpc>
                <a:spcPts val="2400"/>
              </a:lnSpc>
              <a:buNone/>
              <a:defRPr/>
            </a:pPr>
            <a:r>
              <a:rPr lang="en-US" sz="2000" b="1">
                <a:solidFill>
                  <a:srgbClr val="F1E6E3"/>
                </a:solidFill>
                <a:latin typeface="IBM Plex Sans"/>
                <a:ea typeface="IBM Plex Sans"/>
                <a:cs typeface="IBM Plex Sans"/>
              </a:rPr>
              <a:t>Flag</a:t>
            </a:r>
            <a:endParaRPr lang="en-US" sz="2000"/>
          </a:p>
        </p:txBody>
      </p:sp>
      <p:sp>
        <p:nvSpPr>
          <p:cNvPr id="768122661" name="Text 9"/>
          <p:cNvSpPr/>
          <p:nvPr/>
        </p:nvSpPr>
        <p:spPr bwMode="auto">
          <a:xfrm>
            <a:off x="8457943" y="2365865"/>
            <a:ext cx="2995500" cy="772182"/>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CDB9B4"/>
                </a:solidFill>
                <a:latin typeface="IBM Plex Sans"/>
                <a:ea typeface="IBM Plex Sans"/>
                <a:cs typeface="IBM Plex Sans"/>
              </a:rPr>
              <a:t>A finding gets a detection strength of low, medium or high, cut at 0.50 and 0.75, in one of six categories.</a:t>
            </a:r>
            <a:endParaRPr lang="en-US" sz="1400"/>
          </a:p>
        </p:txBody>
      </p:sp>
      <p:sp>
        <p:nvSpPr>
          <p:cNvPr id="1123440642" name="Text 10"/>
          <p:cNvSpPr/>
          <p:nvPr/>
        </p:nvSpPr>
        <p:spPr bwMode="auto">
          <a:xfrm>
            <a:off x="812750" y="3468226"/>
            <a:ext cx="8502631" cy="380978"/>
          </a:xfrm>
          <a:prstGeom prst="rect">
            <a:avLst/>
          </a:prstGeom>
          <a:noFill/>
          <a:ln/>
        </p:spPr>
        <p:txBody>
          <a:bodyPr wrap="square" lIns="0" tIns="0" rIns="0" bIns="0" rtlCol="0" anchor="t">
            <a:normAutofit/>
          </a:bodyPr>
          <a:lstStyle/>
          <a:p>
            <a:pPr marL="0" indent="0" algn="l">
              <a:lnSpc>
                <a:spcPts val="2800"/>
              </a:lnSpc>
              <a:buNone/>
              <a:defRPr/>
            </a:pPr>
            <a:r>
              <a:rPr lang="en-US" sz="2000">
                <a:solidFill>
                  <a:srgbClr val="F1E6E3"/>
                </a:solidFill>
                <a:latin typeface="IBM Plex Sans"/>
                <a:ea typeface="IBM Plex Sans"/>
                <a:cs typeface="IBM Plex Sans"/>
              </a:rPr>
              <a:t>A finding is a pattern worth checking, not a confirmed fault.</a:t>
            </a:r>
            <a:endParaRPr lang="en-US" sz="2000"/>
          </a:p>
        </p:txBody>
      </p:sp>
      <p:sp>
        <p:nvSpPr>
          <p:cNvPr id="558292164" name="Text 11"/>
          <p:cNvSpPr/>
          <p:nvPr/>
        </p:nvSpPr>
        <p:spPr bwMode="auto">
          <a:xfrm>
            <a:off x="812750" y="5714984"/>
            <a:ext cx="10883342"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CDB9B4"/>
                </a:solidFill>
                <a:latin typeface="IBM Plex Sans"/>
                <a:ea typeface="IBM Plex Sans"/>
                <a:cs typeface="IBM Plex Sans"/>
              </a:rPr>
              <a:t>Trained on data before 25 Aug 2014. Settings chosen on the shaded stretch, 25 Aug 2014 to 31 Jan 2015.</a:t>
            </a:r>
            <a:endParaRPr lang="en-US" sz="1200"/>
          </a:p>
        </p:txBody>
      </p:sp>
      <p:pic>
        <p:nvPicPr>
          <p:cNvPr id="494108469" name="Image 2" descr="Every finding in the four homes, laid out as a timeline from 25 Aug 2014 to 31 May 2015"/>
          <p:cNvPicPr>
            <a:picLocks noChangeAspect="1"/>
          </p:cNvPicPr>
          <p:nvPr/>
        </p:nvPicPr>
        <p:blipFill rotWithShape="1">
          <a:blip r:embed="rId5"/>
          <a:srcRect l="0" t="15" r="0" b="15"/>
          <a:stretch/>
        </p:blipFill>
        <p:spPr bwMode="auto">
          <a:xfrm>
            <a:off x="812750" y="6032447"/>
            <a:ext cx="10566352" cy="444491"/>
          </a:xfrm>
          <a:prstGeom prst="rect">
            <a:avLst/>
          </a:prstGeom>
        </p:spPr>
      </p:pic>
      <p:sp>
        <p:nvSpPr>
          <p:cNvPr id="238329468" name="Shape 12"/>
          <p:cNvSpPr/>
          <p:nvPr/>
        </p:nvSpPr>
        <p:spPr bwMode="auto">
          <a:xfrm>
            <a:off x="819100" y="5962641"/>
            <a:ext cx="6007068" cy="584182"/>
          </a:xfrm>
          <a:prstGeom prst="rect">
            <a:avLst/>
          </a:prstGeom>
          <a:solidFill>
            <a:srgbClr val="F1E6E3">
              <a:alpha val="18000"/>
            </a:srgbClr>
          </a:solidFill>
          <a:ln w="12700">
            <a:solidFill>
              <a:srgbClr val="F1E6E3"/>
            </a:solidFill>
            <a:prstDash val="soli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E9EEEC"/>
        </a:solidFill>
      </p:bgPr>
    </p:bg>
    <p:spTree>
      <p:nvGrpSpPr>
        <p:cNvPr id="1" name=""/>
        <p:cNvGrpSpPr/>
        <p:nvPr/>
      </p:nvGrpSpPr>
      <p:grpSpPr bwMode="auto">
        <a:xfrm>
          <a:off x="0" y="0"/>
          <a:ext cx="0" cy="0"/>
          <a:chOff x="0" y="0"/>
          <a:chExt cx="0" cy="0"/>
        </a:xfrm>
      </p:grpSpPr>
      <p:sp>
        <p:nvSpPr>
          <p:cNvPr id="1758821097" name="Text 0"/>
          <p:cNvSpPr/>
          <p:nvPr>
            <p:ph type="title"/>
          </p:nvPr>
        </p:nvSpPr>
        <p:spPr bwMode="auto">
          <a:xfrm>
            <a:off x="812750" y="812750"/>
            <a:ext cx="10883421" cy="640019"/>
          </a:xfrm>
          <a:prstGeom prst="rect">
            <a:avLst/>
          </a:prstGeom>
          <a:noFill/>
          <a:ln/>
        </p:spPr>
        <p:txBody>
          <a:bodyPr wrap="square" lIns="0" tIns="0" rIns="0" bIns="0" rtlCol="0" anchor="t">
            <a:normAutofit/>
          </a:bodyPr>
          <a:lstStyle/>
          <a:p>
            <a:pPr marL="0" indent="0" algn="l">
              <a:lnSpc>
                <a:spcPts val="4840"/>
              </a:lnSpc>
              <a:buNone/>
              <a:defRPr/>
            </a:pPr>
            <a:r>
              <a:rPr lang="en-US" sz="4400" b="1" i="0">
                <a:solidFill>
                  <a:srgbClr val="2A1013"/>
                </a:solidFill>
                <a:latin typeface="Big Shoulders Display"/>
                <a:ea typeface="Big Shoulders Display"/>
                <a:cs typeface="Big Shoulders Display"/>
              </a:rPr>
              <a:t>Scored once, shown as it came out</a:t>
            </a:r>
            <a:endParaRPr lang="en-US" sz="4400"/>
          </a:p>
        </p:txBody>
      </p:sp>
      <p:pic>
        <p:nvPicPr>
          <p:cNvPr id="1667158495" name="Image 0" descr="37 labelled events, 11 of them found by a finding"/>
          <p:cNvPicPr>
            <a:picLocks noChangeAspect="1"/>
          </p:cNvPicPr>
          <p:nvPr/>
        </p:nvPicPr>
        <p:blipFill rotWithShape="1">
          <a:blip r:embed="rId3"/>
          <a:srcRect l="0" t="0" r="0" b="0"/>
          <a:stretch/>
        </p:blipFill>
        <p:spPr bwMode="auto">
          <a:xfrm>
            <a:off x="812750" y="1732149"/>
            <a:ext cx="6095926" cy="2495538"/>
          </a:xfrm>
          <a:prstGeom prst="rect">
            <a:avLst/>
          </a:prstGeom>
        </p:spPr>
      </p:pic>
      <p:sp>
        <p:nvSpPr>
          <p:cNvPr id="504137253" name="Text 1"/>
          <p:cNvSpPr/>
          <p:nvPr/>
        </p:nvSpPr>
        <p:spPr bwMode="auto">
          <a:xfrm>
            <a:off x="812750" y="4380080"/>
            <a:ext cx="6278804" cy="523255"/>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6B5558"/>
                </a:solidFill>
                <a:latin typeface="IBM Plex Sans"/>
                <a:ea typeface="IBM Plex Sans"/>
                <a:cs typeface="IBM Plex Sans"/>
              </a:rPr>
              <a:t>Each circle is one labelled unusual event in the test window. Filled circles were found by a finding.</a:t>
            </a:r>
            <a:endParaRPr lang="en-US" sz="1400"/>
          </a:p>
        </p:txBody>
      </p:sp>
      <p:sp>
        <p:nvSpPr>
          <p:cNvPr id="1157911863" name="Text 2"/>
          <p:cNvSpPr/>
          <p:nvPr/>
        </p:nvSpPr>
        <p:spPr bwMode="auto">
          <a:xfrm>
            <a:off x="7315050" y="1732149"/>
            <a:ext cx="4185895" cy="787428"/>
          </a:xfrm>
          <a:prstGeom prst="rect">
            <a:avLst/>
          </a:prstGeom>
          <a:noFill/>
          <a:ln/>
        </p:spPr>
        <p:txBody>
          <a:bodyPr wrap="square" lIns="0" tIns="0" rIns="0" bIns="0" rtlCol="0" anchor="t">
            <a:normAutofit/>
          </a:bodyPr>
          <a:lstStyle/>
          <a:p>
            <a:pPr marL="0" indent="0" algn="l">
              <a:lnSpc>
                <a:spcPts val="6000"/>
              </a:lnSpc>
              <a:buNone/>
              <a:defRPr/>
            </a:pPr>
            <a:r>
              <a:rPr lang="en-US" sz="6000" b="1">
                <a:solidFill>
                  <a:srgbClr val="2A1013"/>
                </a:solidFill>
                <a:latin typeface="Big Shoulders Display"/>
                <a:ea typeface="Big Shoulders Display"/>
                <a:cs typeface="Big Shoulders Display"/>
              </a:rPr>
              <a:t>11 of 37</a:t>
            </a:r>
            <a:endParaRPr lang="en-US" sz="6000"/>
          </a:p>
        </p:txBody>
      </p:sp>
      <p:sp>
        <p:nvSpPr>
          <p:cNvPr id="776777895" name="Text 3"/>
          <p:cNvSpPr/>
          <p:nvPr/>
        </p:nvSpPr>
        <p:spPr bwMode="auto">
          <a:xfrm>
            <a:off x="7315050" y="2595773"/>
            <a:ext cx="4185895" cy="685684"/>
          </a:xfrm>
          <a:prstGeom prst="rect">
            <a:avLst/>
          </a:prstGeom>
          <a:noFill/>
          <a:ln/>
        </p:spPr>
        <p:txBody>
          <a:bodyPr wrap="square" lIns="0" tIns="0" rIns="0" bIns="0" rtlCol="0" anchor="t">
            <a:normAutofit/>
          </a:bodyPr>
          <a:lstStyle/>
          <a:p>
            <a:pPr marL="0" indent="0" algn="l">
              <a:lnSpc>
                <a:spcPts val="2600"/>
              </a:lnSpc>
              <a:buNone/>
              <a:defRPr/>
            </a:pPr>
            <a:r>
              <a:rPr lang="en-US" sz="2000">
                <a:solidFill>
                  <a:srgbClr val="2A1013"/>
                </a:solidFill>
                <a:latin typeface="IBM Plex Sans"/>
                <a:ea typeface="IBM Plex Sans"/>
                <a:cs typeface="IBM Plex Sans"/>
              </a:rPr>
              <a:t>labelled events found, with a median delay of 7.3 hours.</a:t>
            </a:r>
            <a:endParaRPr lang="en-US" sz="2000"/>
          </a:p>
        </p:txBody>
      </p:sp>
      <p:sp>
        <p:nvSpPr>
          <p:cNvPr id="1506523664" name="Text 4"/>
          <p:cNvSpPr/>
          <p:nvPr/>
        </p:nvSpPr>
        <p:spPr bwMode="auto">
          <a:xfrm>
            <a:off x="7315050" y="3357649"/>
            <a:ext cx="4185895" cy="772182"/>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4F3A3D"/>
                </a:solidFill>
                <a:latin typeface="IBM Plex Sans"/>
                <a:ea typeface="IBM Plex Sans"/>
                <a:cs typeface="IBM Plex Sans"/>
              </a:rPr>
              <a:t>Precision is 16%, with about 5 unmatched findings per home per month. Houses 10 and 18 were scored blind.</a:t>
            </a:r>
            <a:endParaRPr lang="en-US" sz="1400"/>
          </a:p>
        </p:txBody>
      </p:sp>
      <p:sp>
        <p:nvSpPr>
          <p:cNvPr id="1157819038" name="Text 5"/>
          <p:cNvSpPr/>
          <p:nvPr/>
        </p:nvSpPr>
        <p:spPr bwMode="auto">
          <a:xfrm>
            <a:off x="812750" y="5714988"/>
            <a:ext cx="10883342"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5558"/>
                </a:solidFill>
                <a:latin typeface="IBM Plex Sans"/>
                <a:ea typeface="IBM Plex Sans"/>
                <a:cs typeface="IBM Plex Sans"/>
              </a:rPr>
              <a:t>Test window: 31 Jan to 31 May 2015, scored once, with no tuning.</a:t>
            </a:r>
            <a:endParaRPr lang="en-US" sz="1200"/>
          </a:p>
        </p:txBody>
      </p:sp>
      <p:pic>
        <p:nvPicPr>
          <p:cNvPr id="262038638" name="Image 1" descr="Every finding in the four homes, laid out as a timeline from 25 Aug 2014 to 31 May 2015"/>
          <p:cNvPicPr>
            <a:picLocks noChangeAspect="1"/>
          </p:cNvPicPr>
          <p:nvPr/>
        </p:nvPicPr>
        <p:blipFill rotWithShape="1">
          <a:blip r:embed="rId4"/>
          <a:srcRect l="0" t="15" r="0" b="15"/>
          <a:stretch/>
        </p:blipFill>
        <p:spPr bwMode="auto">
          <a:xfrm>
            <a:off x="812750" y="6032450"/>
            <a:ext cx="10566352" cy="444491"/>
          </a:xfrm>
          <a:prstGeom prst="rect">
            <a:avLst/>
          </a:prstGeom>
        </p:spPr>
      </p:pic>
      <p:sp>
        <p:nvSpPr>
          <p:cNvPr id="1740409617" name="Shape 6"/>
          <p:cNvSpPr/>
          <p:nvPr/>
        </p:nvSpPr>
        <p:spPr bwMode="auto">
          <a:xfrm>
            <a:off x="6838944" y="5962644"/>
            <a:ext cx="4533884" cy="584182"/>
          </a:xfrm>
          <a:prstGeom prst="rect">
            <a:avLst/>
          </a:prstGeom>
          <a:solidFill>
            <a:srgbClr val="2A1013">
              <a:alpha val="14000"/>
            </a:srgbClr>
          </a:solidFill>
          <a:ln w="12700">
            <a:solidFill>
              <a:srgbClr val="2A1013"/>
            </a:solidFill>
            <a:prstDash val="soli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2A1013"/>
        </a:solidFill>
      </p:bgPr>
    </p:bg>
    <p:spTree>
      <p:nvGrpSpPr>
        <p:cNvPr id="1" name=""/>
        <p:cNvGrpSpPr/>
        <p:nvPr/>
      </p:nvGrpSpPr>
      <p:grpSpPr bwMode="auto">
        <a:xfrm>
          <a:off x="0" y="0"/>
          <a:ext cx="0" cy="0"/>
          <a:chOff x="0" y="0"/>
          <a:chExt cx="0" cy="0"/>
        </a:xfrm>
      </p:grpSpPr>
      <p:sp>
        <p:nvSpPr>
          <p:cNvPr id="975687246" name="Text 0"/>
          <p:cNvSpPr/>
          <p:nvPr>
            <p:ph type="title"/>
          </p:nvPr>
        </p:nvSpPr>
        <p:spPr bwMode="auto">
          <a:xfrm>
            <a:off x="812750" y="812750"/>
            <a:ext cx="4185895" cy="1198785"/>
          </a:xfrm>
          <a:prstGeom prst="rect">
            <a:avLst/>
          </a:prstGeom>
          <a:noFill/>
          <a:ln/>
        </p:spPr>
        <p:txBody>
          <a:bodyPr wrap="square" lIns="0" tIns="0" rIns="0" bIns="0" rtlCol="0" anchor="t">
            <a:normAutofit/>
          </a:bodyPr>
          <a:lstStyle/>
          <a:p>
            <a:pPr marL="0" indent="0" algn="l">
              <a:lnSpc>
                <a:spcPts val="4620"/>
              </a:lnSpc>
              <a:buNone/>
              <a:defRPr/>
            </a:pPr>
            <a:r>
              <a:rPr lang="en-US" sz="4400" b="1" i="0">
                <a:solidFill>
                  <a:srgbClr val="F1E6E3"/>
                </a:solidFill>
                <a:latin typeface="Big Shoulders Display"/>
                <a:ea typeface="Big Shoulders Display"/>
                <a:cs typeface="Big Shoulders Display"/>
              </a:rPr>
              <a:t>Next: catch more, nag less</a:t>
            </a:r>
            <a:endParaRPr lang="en-US" sz="4400"/>
          </a:p>
        </p:txBody>
      </p:sp>
      <p:sp>
        <p:nvSpPr>
          <p:cNvPr id="1152059187" name="Text 1"/>
          <p:cNvSpPr/>
          <p:nvPr/>
        </p:nvSpPr>
        <p:spPr bwMode="auto">
          <a:xfrm>
            <a:off x="812750" y="2189324"/>
            <a:ext cx="4185895" cy="736555"/>
          </a:xfrm>
          <a:prstGeom prst="rect">
            <a:avLst/>
          </a:prstGeom>
          <a:noFill/>
          <a:ln/>
        </p:spPr>
        <p:txBody>
          <a:bodyPr wrap="square" lIns="0" tIns="0" rIns="0" bIns="0" rtlCol="0" anchor="t">
            <a:normAutofit/>
          </a:bodyPr>
          <a:lstStyle/>
          <a:p>
            <a:pPr marL="0" indent="0" algn="l">
              <a:lnSpc>
                <a:spcPts val="2800"/>
              </a:lnSpc>
              <a:buNone/>
              <a:defRPr/>
            </a:pPr>
            <a:r>
              <a:rPr lang="en-US" sz="2000">
                <a:solidFill>
                  <a:srgbClr val="CDB9B4"/>
                </a:solidFill>
                <a:latin typeface="IBM Plex Sans"/>
                <a:ea typeface="IBM Plex Sans"/>
                <a:cs typeface="IBM Plex Sans"/>
              </a:rPr>
              <a:t>The scoring slide shows where the work is.</a:t>
            </a:r>
            <a:endParaRPr lang="en-US" sz="2000"/>
          </a:p>
        </p:txBody>
      </p:sp>
      <p:sp>
        <p:nvSpPr>
          <p:cNvPr id="1893085723" name="Shape 2"/>
          <p:cNvSpPr/>
          <p:nvPr/>
        </p:nvSpPr>
        <p:spPr bwMode="auto">
          <a:xfrm>
            <a:off x="5486288" y="819100"/>
            <a:ext cx="5892738" cy="0"/>
          </a:xfrm>
          <a:prstGeom prst="line">
            <a:avLst/>
          </a:prstGeom>
          <a:noFill/>
          <a:ln w="12700">
            <a:solidFill>
              <a:srgbClr val="F1E6E3"/>
            </a:solidFill>
            <a:prstDash val="solid"/>
          </a:ln>
        </p:spPr>
      </p:sp>
      <p:sp>
        <p:nvSpPr>
          <p:cNvPr id="1234446593" name="Text 3"/>
          <p:cNvSpPr/>
          <p:nvPr/>
        </p:nvSpPr>
        <p:spPr bwMode="auto">
          <a:xfrm>
            <a:off x="5486288" y="1000162"/>
            <a:ext cx="6069521" cy="274327"/>
          </a:xfrm>
          <a:prstGeom prst="rect">
            <a:avLst/>
          </a:prstGeom>
          <a:noFill/>
          <a:ln/>
        </p:spPr>
        <p:txBody>
          <a:bodyPr wrap="square" lIns="0" tIns="0" rIns="0" bIns="0" rtlCol="0" anchor="t">
            <a:normAutofit/>
          </a:bodyPr>
          <a:lstStyle/>
          <a:p>
            <a:pPr marL="0" indent="0" algn="l">
              <a:lnSpc>
                <a:spcPts val="1960"/>
              </a:lnSpc>
              <a:buNone/>
              <a:defRPr/>
            </a:pPr>
            <a:r>
              <a:rPr lang="en-US" sz="1400" b="1">
                <a:solidFill>
                  <a:srgbClr val="7BE0B0"/>
                </a:solidFill>
                <a:latin typeface="IBM Plex Sans"/>
                <a:ea typeface="IBM Plex Sans"/>
                <a:cs typeface="IBM Plex Sans"/>
              </a:rPr>
              <a:t>Catch more</a:t>
            </a:r>
            <a:endParaRPr lang="en-US" sz="1400"/>
          </a:p>
        </p:txBody>
      </p:sp>
      <p:sp>
        <p:nvSpPr>
          <p:cNvPr id="1257827089" name="Text 4"/>
          <p:cNvSpPr/>
          <p:nvPr/>
        </p:nvSpPr>
        <p:spPr bwMode="auto">
          <a:xfrm>
            <a:off x="5486288" y="1299883"/>
            <a:ext cx="6069521" cy="711044"/>
          </a:xfrm>
          <a:prstGeom prst="rect">
            <a:avLst/>
          </a:prstGeom>
          <a:noFill/>
          <a:ln/>
        </p:spPr>
        <p:txBody>
          <a:bodyPr wrap="square" lIns="0" tIns="0" rIns="0" bIns="0" rtlCol="0" anchor="t">
            <a:normAutofit/>
          </a:bodyPr>
          <a:lstStyle/>
          <a:p>
            <a:pPr marL="0" indent="0" algn="l">
              <a:lnSpc>
                <a:spcPts val="2700"/>
              </a:lnSpc>
              <a:buNone/>
              <a:defRPr/>
            </a:pPr>
            <a:r>
              <a:rPr lang="en-US" sz="2000">
                <a:solidFill>
                  <a:srgbClr val="F1E6E3"/>
                </a:solidFill>
                <a:latin typeface="IBM Plex Sans"/>
                <a:ea typeface="IBM Plex Sans"/>
                <a:cs typeface="IBM Plex Sans"/>
              </a:rPr>
              <a:t>Lift the 11 of 37 labelled events found, starting with the whole-house meter, which found 4.</a:t>
            </a:r>
            <a:endParaRPr lang="en-US" sz="2000"/>
          </a:p>
        </p:txBody>
      </p:sp>
      <p:sp>
        <p:nvSpPr>
          <p:cNvPr id="495316473" name="Shape 5"/>
          <p:cNvSpPr/>
          <p:nvPr/>
        </p:nvSpPr>
        <p:spPr bwMode="auto">
          <a:xfrm>
            <a:off x="5486288" y="2169629"/>
            <a:ext cx="5892738" cy="0"/>
          </a:xfrm>
          <a:prstGeom prst="line">
            <a:avLst/>
          </a:prstGeom>
          <a:noFill/>
          <a:ln w="12700">
            <a:solidFill>
              <a:srgbClr val="F1E6E3"/>
            </a:solidFill>
            <a:prstDash val="solid"/>
          </a:ln>
        </p:spPr>
      </p:sp>
      <p:sp>
        <p:nvSpPr>
          <p:cNvPr id="355381179" name="Text 6"/>
          <p:cNvSpPr/>
          <p:nvPr/>
        </p:nvSpPr>
        <p:spPr bwMode="auto">
          <a:xfrm>
            <a:off x="5486288" y="2350691"/>
            <a:ext cx="6069521" cy="274327"/>
          </a:xfrm>
          <a:prstGeom prst="rect">
            <a:avLst/>
          </a:prstGeom>
          <a:noFill/>
          <a:ln/>
        </p:spPr>
        <p:txBody>
          <a:bodyPr wrap="square" lIns="0" tIns="0" rIns="0" bIns="0" rtlCol="0" anchor="t">
            <a:normAutofit/>
          </a:bodyPr>
          <a:lstStyle/>
          <a:p>
            <a:pPr marL="0" indent="0" algn="l">
              <a:lnSpc>
                <a:spcPts val="1960"/>
              </a:lnSpc>
              <a:buNone/>
              <a:defRPr/>
            </a:pPr>
            <a:r>
              <a:rPr lang="en-US" sz="1400" b="1">
                <a:solidFill>
                  <a:srgbClr val="7BE0B0"/>
                </a:solidFill>
                <a:latin typeface="IBM Plex Sans"/>
                <a:ea typeface="IBM Plex Sans"/>
                <a:cs typeface="IBM Plex Sans"/>
              </a:rPr>
              <a:t>Nag less</a:t>
            </a:r>
            <a:endParaRPr lang="en-US" sz="1400"/>
          </a:p>
        </p:txBody>
      </p:sp>
      <p:sp>
        <p:nvSpPr>
          <p:cNvPr id="650392007" name="Text 7"/>
          <p:cNvSpPr/>
          <p:nvPr/>
        </p:nvSpPr>
        <p:spPr bwMode="auto">
          <a:xfrm>
            <a:off x="5486288" y="2650418"/>
            <a:ext cx="6069521" cy="711044"/>
          </a:xfrm>
          <a:prstGeom prst="rect">
            <a:avLst/>
          </a:prstGeom>
          <a:noFill/>
          <a:ln/>
        </p:spPr>
        <p:txBody>
          <a:bodyPr wrap="square" lIns="0" tIns="0" rIns="0" bIns="0" rtlCol="0" anchor="t">
            <a:normAutofit/>
          </a:bodyPr>
          <a:lstStyle/>
          <a:p>
            <a:pPr marL="0" indent="0" algn="l">
              <a:lnSpc>
                <a:spcPts val="2700"/>
              </a:lnSpc>
              <a:buNone/>
              <a:defRPr/>
            </a:pPr>
            <a:r>
              <a:rPr lang="en-US" sz="2000">
                <a:solidFill>
                  <a:srgbClr val="F1E6E3"/>
                </a:solidFill>
                <a:latin typeface="IBM Plex Sans"/>
                <a:ea typeface="IBM Plex Sans"/>
                <a:cs typeface="IBM Plex Sans"/>
              </a:rPr>
              <a:t>Cut the unmatched findings, now about 5 per home per month.</a:t>
            </a:r>
            <a:endParaRPr lang="en-US" sz="2000"/>
          </a:p>
        </p:txBody>
      </p:sp>
      <p:sp>
        <p:nvSpPr>
          <p:cNvPr id="1568864073" name="Shape 8"/>
          <p:cNvSpPr/>
          <p:nvPr/>
        </p:nvSpPr>
        <p:spPr bwMode="auto">
          <a:xfrm>
            <a:off x="5486288" y="3520163"/>
            <a:ext cx="5892738" cy="0"/>
          </a:xfrm>
          <a:prstGeom prst="line">
            <a:avLst/>
          </a:prstGeom>
          <a:noFill/>
          <a:ln w="12700">
            <a:solidFill>
              <a:srgbClr val="F1E6E3"/>
            </a:solidFill>
            <a:prstDash val="solid"/>
          </a:ln>
        </p:spPr>
      </p:sp>
      <p:sp>
        <p:nvSpPr>
          <p:cNvPr id="1458512493" name="Shape 9"/>
          <p:cNvSpPr/>
          <p:nvPr/>
        </p:nvSpPr>
        <p:spPr bwMode="auto">
          <a:xfrm>
            <a:off x="5486288" y="4867657"/>
            <a:ext cx="5892738" cy="0"/>
          </a:xfrm>
          <a:prstGeom prst="line">
            <a:avLst/>
          </a:prstGeom>
          <a:noFill/>
          <a:ln w="12700">
            <a:solidFill>
              <a:srgbClr val="F1E6E3"/>
            </a:solidFill>
            <a:prstDash val="solid"/>
          </a:ln>
        </p:spPr>
      </p:sp>
      <p:sp>
        <p:nvSpPr>
          <p:cNvPr id="1016201995" name="Text 10"/>
          <p:cNvSpPr/>
          <p:nvPr/>
        </p:nvSpPr>
        <p:spPr bwMode="auto">
          <a:xfrm>
            <a:off x="5486288" y="3701225"/>
            <a:ext cx="6069521" cy="274327"/>
          </a:xfrm>
          <a:prstGeom prst="rect">
            <a:avLst/>
          </a:prstGeom>
          <a:noFill/>
          <a:ln/>
        </p:spPr>
        <p:txBody>
          <a:bodyPr wrap="square" lIns="0" tIns="0" rIns="0" bIns="0" rtlCol="0" anchor="t">
            <a:normAutofit/>
          </a:bodyPr>
          <a:lstStyle/>
          <a:p>
            <a:pPr marL="0" indent="0" algn="l">
              <a:lnSpc>
                <a:spcPts val="1960"/>
              </a:lnSpc>
              <a:buNone/>
              <a:defRPr/>
            </a:pPr>
            <a:r>
              <a:rPr lang="en-US" sz="1400" b="1">
                <a:solidFill>
                  <a:srgbClr val="7BE0B0"/>
                </a:solidFill>
                <a:latin typeface="IBM Plex Sans"/>
                <a:ea typeface="IBM Plex Sans"/>
                <a:cs typeface="IBM Plex Sans"/>
              </a:rPr>
              <a:t>More homes</a:t>
            </a:r>
            <a:endParaRPr lang="en-US" sz="1400"/>
          </a:p>
        </p:txBody>
      </p:sp>
      <p:sp>
        <p:nvSpPr>
          <p:cNvPr id="1734951248" name="Text 11"/>
          <p:cNvSpPr/>
          <p:nvPr/>
        </p:nvSpPr>
        <p:spPr bwMode="auto">
          <a:xfrm>
            <a:off x="5486288" y="4000953"/>
            <a:ext cx="6069521" cy="711044"/>
          </a:xfrm>
          <a:prstGeom prst="rect">
            <a:avLst/>
          </a:prstGeom>
          <a:noFill/>
          <a:ln/>
        </p:spPr>
        <p:txBody>
          <a:bodyPr wrap="square" lIns="0" tIns="0" rIns="0" bIns="0" rtlCol="0" anchor="t">
            <a:normAutofit/>
          </a:bodyPr>
          <a:lstStyle/>
          <a:p>
            <a:pPr marL="0" indent="0" algn="l">
              <a:lnSpc>
                <a:spcPts val="2700"/>
              </a:lnSpc>
              <a:buNone/>
              <a:defRPr/>
            </a:pPr>
            <a:r>
              <a:rPr lang="en-US" sz="2000">
                <a:solidFill>
                  <a:srgbClr val="F1E6E3"/>
                </a:solidFill>
                <a:latin typeface="IBM Plex Sans"/>
                <a:ea typeface="IBM Plex Sans"/>
                <a:cs typeface="IBM Plex Sans"/>
              </a:rPr>
              <a:t>Test the forecasts on more homes than the four so far.</a:t>
            </a:r>
            <a:endParaRPr lang="en-US" sz="2000"/>
          </a:p>
        </p:txBody>
      </p:sp>
      <p:sp>
        <p:nvSpPr>
          <p:cNvPr id="805020000" name="Text 12"/>
          <p:cNvSpPr/>
          <p:nvPr/>
        </p:nvSpPr>
        <p:spPr bwMode="auto">
          <a:xfrm>
            <a:off x="812750" y="5714988"/>
            <a:ext cx="10883342"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CDB9B4"/>
                </a:solidFill>
                <a:latin typeface="IBM Plex Sans"/>
                <a:ea typeface="IBM Plex Sans"/>
                <a:cs typeface="IBM Plex Sans"/>
              </a:rPr>
              <a:t>The replay ends on Sun 31 May 2015.</a:t>
            </a:r>
            <a:endParaRPr lang="en-US" sz="1200"/>
          </a:p>
        </p:txBody>
      </p:sp>
      <p:pic>
        <p:nvPicPr>
          <p:cNvPr id="2014850509" name="Image 0" descr="Every finding in the four homes, laid out as a timeline from 25 Aug 2014 to 31 May 2015"/>
          <p:cNvPicPr>
            <a:picLocks noChangeAspect="1"/>
          </p:cNvPicPr>
          <p:nvPr/>
        </p:nvPicPr>
        <p:blipFill rotWithShape="1">
          <a:blip r:embed="rId3"/>
          <a:srcRect l="0" t="15" r="0" b="15"/>
          <a:stretch/>
        </p:blipFill>
        <p:spPr bwMode="auto">
          <a:xfrm>
            <a:off x="812750" y="6032450"/>
            <a:ext cx="10566352" cy="444491"/>
          </a:xfrm>
          <a:prstGeom prst="rect">
            <a:avLst/>
          </a:prstGeom>
        </p:spPr>
      </p:pic>
      <p:sp>
        <p:nvSpPr>
          <p:cNvPr id="1666095535" name="Shape 13"/>
          <p:cNvSpPr/>
          <p:nvPr/>
        </p:nvSpPr>
        <p:spPr bwMode="auto">
          <a:xfrm>
            <a:off x="11353741" y="5956288"/>
            <a:ext cx="25361" cy="596882"/>
          </a:xfrm>
          <a:prstGeom prst="rect">
            <a:avLst/>
          </a:prstGeom>
          <a:solidFill>
            <a:srgbClr val="F1E6E3"/>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2A1013"/>
        </a:solidFill>
      </p:bgPr>
    </p:bg>
    <p:spTree>
      <p:nvGrpSpPr>
        <p:cNvPr id="1" name=""/>
        <p:cNvGrpSpPr/>
        <p:nvPr/>
      </p:nvGrpSpPr>
      <p:grpSpPr bwMode="auto">
        <a:xfrm>
          <a:off x="0" y="0"/>
          <a:ext cx="0" cy="0"/>
          <a:chOff x="0" y="0"/>
          <a:chExt cx="0" cy="0"/>
        </a:xfrm>
      </p:grpSpPr>
      <p:sp>
        <p:nvSpPr>
          <p:cNvPr id="1289578211" name="Text 0"/>
          <p:cNvSpPr/>
          <p:nvPr>
            <p:ph type="title"/>
          </p:nvPr>
        </p:nvSpPr>
        <p:spPr bwMode="auto">
          <a:xfrm>
            <a:off x="812750" y="812750"/>
            <a:ext cx="9810728" cy="1549457"/>
          </a:xfrm>
          <a:prstGeom prst="rect">
            <a:avLst/>
          </a:prstGeom>
          <a:noFill/>
          <a:ln/>
        </p:spPr>
        <p:txBody>
          <a:bodyPr wrap="square" lIns="0" tIns="0" rIns="0" bIns="0" rtlCol="0" anchor="t">
            <a:normAutofit/>
          </a:bodyPr>
          <a:lstStyle/>
          <a:p>
            <a:pPr marL="0" indent="0" algn="l">
              <a:lnSpc>
                <a:spcPts val="6000"/>
              </a:lnSpc>
              <a:buNone/>
              <a:defRPr/>
            </a:pPr>
            <a:r>
              <a:rPr lang="en-US" sz="6000" b="1" i="0">
                <a:solidFill>
                  <a:srgbClr val="F1E6E3"/>
                </a:solidFill>
                <a:latin typeface="Big Shoulders Display"/>
                <a:ea typeface="Big Shoulders Display"/>
                <a:cs typeface="Big Shoulders Display"/>
              </a:rPr>
              <a:t>Know what went wrong, not just what you spent.</a:t>
            </a:r>
            <a:endParaRPr lang="en-US" sz="6000"/>
          </a:p>
        </p:txBody>
      </p:sp>
      <p:sp>
        <p:nvSpPr>
          <p:cNvPr id="588420681" name="Text 1"/>
          <p:cNvSpPr/>
          <p:nvPr/>
        </p:nvSpPr>
        <p:spPr bwMode="auto">
          <a:xfrm>
            <a:off x="812750" y="3982913"/>
            <a:ext cx="10883421" cy="584165"/>
          </a:xfrm>
          <a:prstGeom prst="rect">
            <a:avLst/>
          </a:prstGeom>
          <a:noFill/>
          <a:ln/>
        </p:spPr>
        <p:txBody>
          <a:bodyPr wrap="square" lIns="0" tIns="0" rIns="0" bIns="0" rtlCol="0" anchor="t">
            <a:normAutofit/>
          </a:bodyPr>
          <a:lstStyle/>
          <a:p>
            <a:pPr marL="0" indent="0" algn="l">
              <a:lnSpc>
                <a:spcPts val="4400"/>
              </a:lnSpc>
              <a:buNone/>
              <a:defRPr/>
            </a:pPr>
            <a:r>
              <a:rPr lang="en-US" sz="4400" b="1">
                <a:solidFill>
                  <a:srgbClr val="F1E6E3"/>
                </a:solidFill>
                <a:latin typeface="Big Shoulders Display"/>
                <a:ea typeface="Big Shoulders Display"/>
                <a:cs typeface="Big Shoulders Display"/>
              </a:rPr>
              <a:t>watts</a:t>
            </a:r>
            <a:r>
              <a:rPr lang="en-US" sz="4400" b="1">
                <a:solidFill>
                  <a:srgbClr val="7BE0B0"/>
                </a:solidFill>
                <a:latin typeface="Big Shoulders Display"/>
                <a:ea typeface="Big Shoulders Display"/>
                <a:cs typeface="Big Shoulders Display"/>
              </a:rPr>
              <a:t>wrong</a:t>
            </a:r>
            <a:endParaRPr lang="en-US" sz="4400"/>
          </a:p>
        </p:txBody>
      </p:sp>
      <p:sp>
        <p:nvSpPr>
          <p:cNvPr id="1000406152" name="Text 2"/>
          <p:cNvSpPr/>
          <p:nvPr/>
        </p:nvSpPr>
        <p:spPr bwMode="auto">
          <a:xfrm>
            <a:off x="812750" y="4643276"/>
            <a:ext cx="10883421" cy="368222"/>
          </a:xfrm>
          <a:prstGeom prst="rect">
            <a:avLst/>
          </a:prstGeom>
          <a:noFill/>
          <a:ln/>
        </p:spPr>
        <p:txBody>
          <a:bodyPr wrap="square" lIns="0" tIns="0" rIns="0" bIns="0" rtlCol="0" anchor="t">
            <a:normAutofit/>
          </a:bodyPr>
          <a:lstStyle/>
          <a:p>
            <a:pPr marL="0" indent="0" algn="l">
              <a:lnSpc>
                <a:spcPts val="2700"/>
              </a:lnSpc>
              <a:buNone/>
              <a:defRPr/>
            </a:pPr>
            <a:r>
              <a:rPr lang="en-US" sz="2000">
                <a:solidFill>
                  <a:srgbClr val="F1E6E3"/>
                </a:solidFill>
                <a:latin typeface="IBM Plex Sans"/>
                <a:ea typeface="IBM Plex Sans"/>
                <a:cs typeface="IBM Plex Sans"/>
              </a:rPr>
              <a:t>Try the replay: wattswrong.vercel.app</a:t>
            </a:r>
            <a:endParaRPr lang="en-US" sz="2000"/>
          </a:p>
        </p:txBody>
      </p:sp>
      <p:sp>
        <p:nvSpPr>
          <p:cNvPr id="1153487805" name="Text 3"/>
          <p:cNvSpPr/>
          <p:nvPr/>
        </p:nvSpPr>
        <p:spPr bwMode="auto">
          <a:xfrm>
            <a:off x="812750" y="5087689"/>
            <a:ext cx="10883421" cy="274327"/>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CDB9B4"/>
                </a:solidFill>
                <a:latin typeface="IBM Plex Sans"/>
                <a:ea typeface="IBM Plex Sans"/>
                <a:cs typeface="IBM Plex Sans"/>
              </a:rPr>
              <a:t>Code: github.com/HishamAbdulhak/wattswrong-3d. Team: H. A. T. M., AI Dormathon.</a:t>
            </a:r>
            <a:endParaRPr lang="en-US" sz="1400"/>
          </a:p>
        </p:txBody>
      </p:sp>
      <p:sp>
        <p:nvSpPr>
          <p:cNvPr id="862646575" name="Text 4"/>
          <p:cNvSpPr/>
          <p:nvPr/>
        </p:nvSpPr>
        <p:spPr bwMode="auto">
          <a:xfrm>
            <a:off x="812750" y="5438211"/>
            <a:ext cx="9810728" cy="238702"/>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CDB9B4"/>
                </a:solidFill>
                <a:latin typeface="IBM Plex Sans"/>
                <a:ea typeface="IBM Plex Sans"/>
                <a:cs typeface="IBM Plex Sans"/>
              </a:rPr>
              <a:t>Data: REFIT Electrical Load Measurements (Murray and Stankovic), CC BY 4.0. Event labels: Rashid et al. 2019.</a:t>
            </a:r>
            <a:endParaRPr lang="en-US" sz="1200"/>
          </a:p>
        </p:txBody>
      </p:sp>
      <p:pic>
        <p:nvPicPr>
          <p:cNvPr id="275350414" name="Image 0" descr="Every finding in the four homes, laid out as a timeline from 25 Aug 2014 to 31 May 2015"/>
          <p:cNvPicPr>
            <a:picLocks noChangeAspect="1"/>
          </p:cNvPicPr>
          <p:nvPr/>
        </p:nvPicPr>
        <p:blipFill rotWithShape="1">
          <a:blip r:embed="rId3"/>
          <a:srcRect l="0" t="15" r="0" b="15"/>
          <a:stretch/>
        </p:blipFill>
        <p:spPr bwMode="auto">
          <a:xfrm>
            <a:off x="812750" y="6032450"/>
            <a:ext cx="10566352" cy="444491"/>
          </a:xfrm>
          <a:prstGeom prst="rect">
            <a:avLst/>
          </a:prstGeom>
        </p:spPr>
      </p:pic>
      <p:sp>
        <p:nvSpPr>
          <p:cNvPr id="641755421" name="Shape 5"/>
          <p:cNvSpPr/>
          <p:nvPr/>
        </p:nvSpPr>
        <p:spPr bwMode="auto">
          <a:xfrm>
            <a:off x="11353741" y="5956294"/>
            <a:ext cx="25361" cy="596882"/>
          </a:xfrm>
          <a:prstGeom prst="rect">
            <a:avLst/>
          </a:prstGeom>
          <a:solidFill>
            <a:srgbClr val="F1E6E3"/>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WattsWrong">
  <a:themeElements>
    <a:clrScheme name="WattsWrong">
      <a:dk1>
        <a:srgbClr val="2A1013"/>
      </a:dk1>
      <a:lt1>
        <a:srgbClr val="F1E6E3"/>
      </a:lt1>
      <a:dk2>
        <a:srgbClr val="3E2528"/>
      </a:dk2>
      <a:lt2>
        <a:srgbClr val="BFB1AF"/>
      </a:lt2>
      <a:accent1>
        <a:srgbClr val="7BE0B0"/>
      </a:accent1>
      <a:accent2>
        <a:srgbClr val="FF6A3D"/>
      </a:accent2>
      <a:accent3>
        <a:srgbClr val="D9431A"/>
      </a:accent3>
      <a:accent4>
        <a:srgbClr val="CDB9B4"/>
      </a:accent4>
      <a:accent5>
        <a:srgbClr val="6B5558"/>
      </a:accent5>
      <a:accent6>
        <a:srgbClr val="4F3A3D"/>
      </a:accent6>
      <a:hlink>
        <a:srgbClr val="0563C1"/>
      </a:hlink>
      <a:folHlink>
        <a:srgbClr val="954F72"/>
      </a:folHlink>
    </a:clrScheme>
    <a:fontScheme name="WattsWrong">
      <a:majorFont>
        <a:latin typeface="Big Shoulders Display"/>
        <a:ea typeface="Arial"/>
        <a:cs typeface="Arial"/>
      </a:majorFont>
      <a:minorFont>
        <a:latin typeface="IBM Plex San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11</Slides>
  <Notes>11</Notes>
  <HiddenSlides>0</HiddenSlides>
  <MMClips>2</MMClips>
  <ScaleCrop>0</ScaleCrop>
  <HeadingPairs>
    <vt:vector size="4" baseType="variant">
      <vt:variant>
        <vt:lpstr>Theme</vt:lpstr>
      </vt:variant>
      <vt:variant>
        <vt:i4>1</vt:i4>
      </vt:variant>
      <vt:variant>
        <vt:lpstr>Slide Titles</vt:lpstr>
      </vt:variant>
      <vt:variant>
        <vt:i4>11</vt:i4>
      </vt:variant>
    </vt:vector>
  </HeadingPairs>
  <TitlesOfParts>
    <vt:vector size="1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WattsWrong</dc:title>
  <dc:subject/>
  <dc:creator/>
  <cp:lastModifiedBy/>
  <cp:revision>2</cp:revision>
  <dcterms:created xsi:type="dcterms:W3CDTF">2026-10-10T21:47:49Z</dcterms:created>
  <dcterms:modified xsi:type="dcterms:W3CDTF">2026-10-10T21:50:32Z</dcterms:modified>
</cp:coreProperties>
</file>